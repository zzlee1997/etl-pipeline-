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371600"/>
            <a:ext cx="5486400" cy="365760"/>
          </a:xfrm>
          <a:prstGeom prst="rect">
            <a:avLst/>
          </a:prstGeom>
          <a:noFill/>
          <a:ln/>
        </p:spPr>
        <p:txBody>
          <a:bodyPr wrap="square" lIns="0" tIns="0" rIns="0" bIns="0" rtlCol="0" anchor="ctr"/>
          <a:lstStyle/>
          <a:p>
            <a:pPr indent="0" marL="0">
              <a:buNone/>
            </a:pPr>
            <a:r>
              <a:rPr lang="en-US" sz="1400" b="1" spc="300" kern="0" dirty="0">
                <a:solidFill>
                  <a:srgbClr val="B36B00"/>
                </a:solidFill>
                <a:latin typeface="Arial" pitchFamily="34" charset="0"/>
                <a:ea typeface="Arial" pitchFamily="34" charset="-122"/>
                <a:cs typeface="Arial" pitchFamily="34" charset="-120"/>
              </a:rPr>
              <a:t>PART 2</a:t>
            </a:r>
            <a:endParaRPr lang="en-US" sz="1400" dirty="0"/>
          </a:p>
        </p:txBody>
      </p:sp>
      <p:sp>
        <p:nvSpPr>
          <p:cNvPr id="3" name="Text 1"/>
          <p:cNvSpPr/>
          <p:nvPr/>
        </p:nvSpPr>
        <p:spPr>
          <a:xfrm>
            <a:off x="822960" y="1783080"/>
            <a:ext cx="9875520" cy="1645920"/>
          </a:xfrm>
          <a:prstGeom prst="rect">
            <a:avLst/>
          </a:prstGeom>
          <a:noFill/>
          <a:ln/>
        </p:spPr>
        <p:txBody>
          <a:bodyPr wrap="square" lIns="0" tIns="0" rIns="0" bIns="0" rtlCol="0" anchor="ctr"/>
          <a:lstStyle/>
          <a:p>
            <a:pPr indent="0" marL="0">
              <a:lnSpc>
                <a:spcPct val="110000"/>
              </a:lnSpc>
              <a:buNone/>
            </a:pPr>
            <a:r>
              <a:rPr lang="en-US" sz="3400" b="1" dirty="0">
                <a:solidFill>
                  <a:srgbClr val="232F3E"/>
                </a:solidFill>
                <a:latin typeface="Arial" pitchFamily="34" charset="0"/>
                <a:ea typeface="Arial" pitchFamily="34" charset="-122"/>
                <a:cs typeface="Arial" pitchFamily="34" charset="-120"/>
              </a:rPr>
              <a:t>Architecting Data Ingestion &amp;</a:t>
            </a:r>
            <a:endParaRPr lang="en-US" sz="3400" dirty="0"/>
          </a:p>
          <a:p>
            <a:pPr indent="0" marL="0">
              <a:lnSpc>
                <a:spcPct val="110000"/>
              </a:lnSpc>
              <a:buNone/>
            </a:pPr>
            <a:r>
              <a:rPr lang="en-US" sz="3400" b="1" dirty="0">
                <a:solidFill>
                  <a:srgbClr val="232F3E"/>
                </a:solidFill>
                <a:latin typeface="Arial" pitchFamily="34" charset="0"/>
                <a:ea typeface="Arial" pitchFamily="34" charset="-122"/>
                <a:cs typeface="Arial" pitchFamily="34" charset="-120"/>
              </a:rPr>
              <a:t>Data Exploitation Solution Patterns</a:t>
            </a:r>
            <a:endParaRPr lang="en-US" sz="3400" dirty="0"/>
          </a:p>
        </p:txBody>
      </p:sp>
      <p:sp>
        <p:nvSpPr>
          <p:cNvPr id="4" name="Text 2"/>
          <p:cNvSpPr/>
          <p:nvPr/>
        </p:nvSpPr>
        <p:spPr>
          <a:xfrm>
            <a:off x="822960" y="3337560"/>
            <a:ext cx="9144000" cy="457200"/>
          </a:xfrm>
          <a:prstGeom prst="rect">
            <a:avLst/>
          </a:prstGeom>
          <a:noFill/>
          <a:ln/>
        </p:spPr>
        <p:txBody>
          <a:bodyPr wrap="square" lIns="0" tIns="0" rIns="0" bIns="0" rtlCol="0" anchor="ctr"/>
          <a:lstStyle/>
          <a:p>
            <a:pPr indent="0" marL="0">
              <a:buNone/>
            </a:pPr>
            <a:r>
              <a:rPr lang="en-US" sz="1600" dirty="0">
                <a:solidFill>
                  <a:srgbClr val="545B64"/>
                </a:solidFill>
                <a:latin typeface="Arial" pitchFamily="34" charset="0"/>
                <a:ea typeface="Arial" pitchFamily="34" charset="-122"/>
                <a:cs typeface="Arial" pitchFamily="34" charset="-120"/>
              </a:rPr>
              <a:t>AWS Solution Architecture, HDB Resale Flat Prices Data Platform</a:t>
            </a:r>
            <a:endParaRPr lang="en-US" sz="1600" dirty="0"/>
          </a:p>
        </p:txBody>
      </p:sp>
      <p:sp>
        <p:nvSpPr>
          <p:cNvPr id="5" name="Text 3"/>
          <p:cNvSpPr/>
          <p:nvPr/>
        </p:nvSpPr>
        <p:spPr>
          <a:xfrm>
            <a:off x="822960" y="3767328"/>
            <a:ext cx="9144000" cy="365760"/>
          </a:xfrm>
          <a:prstGeom prst="rect">
            <a:avLst/>
          </a:prstGeom>
          <a:noFill/>
          <a:ln/>
        </p:spPr>
        <p:txBody>
          <a:bodyPr wrap="square" lIns="0" tIns="0" rIns="0" bIns="0" rtlCol="0" anchor="ctr"/>
          <a:lstStyle/>
          <a:p>
            <a:pPr indent="0" marL="0">
              <a:buNone/>
            </a:pPr>
            <a:r>
              <a:rPr lang="en-US" sz="1400" b="1" dirty="0">
                <a:solidFill>
                  <a:srgbClr val="B36B00"/>
                </a:solidFill>
                <a:latin typeface="Arial" pitchFamily="34" charset="0"/>
                <a:ea typeface="Arial" pitchFamily="34" charset="-122"/>
                <a:cs typeface="Arial" pitchFamily="34" charset="-120"/>
              </a:rPr>
              <a:t>Prepared by Lee Zhong Zin</a:t>
            </a:r>
            <a:endParaRPr lang="en-US" sz="1400" dirty="0"/>
          </a:p>
        </p:txBody>
      </p:sp>
      <p:sp>
        <p:nvSpPr>
          <p:cNvPr id="6" name="Shape 4"/>
          <p:cNvSpPr/>
          <p:nvPr/>
        </p:nvSpPr>
        <p:spPr>
          <a:xfrm>
            <a:off x="822960" y="4434840"/>
            <a:ext cx="5120640" cy="457200"/>
          </a:xfrm>
          <a:prstGeom prst="roundRect">
            <a:avLst>
              <a:gd name="adj" fmla="val 16000"/>
            </a:avLst>
          </a:prstGeom>
          <a:solidFill>
            <a:srgbClr val="FFFFFF">
              <a:alpha val="95000"/>
            </a:srgbClr>
          </a:solidFill>
          <a:ln w="12700">
            <a:solidFill>
              <a:srgbClr val="E2E4E8"/>
            </a:solidFill>
            <a:prstDash val="solid"/>
          </a:ln>
        </p:spPr>
      </p:sp>
      <p:sp>
        <p:nvSpPr>
          <p:cNvPr id="7" name="Text 5"/>
          <p:cNvSpPr/>
          <p:nvPr/>
        </p:nvSpPr>
        <p:spPr>
          <a:xfrm>
            <a:off x="1005840" y="4434840"/>
            <a:ext cx="4846320" cy="457200"/>
          </a:xfrm>
          <a:prstGeom prst="rect">
            <a:avLst/>
          </a:prstGeom>
          <a:noFill/>
          <a:ln/>
        </p:spPr>
        <p:txBody>
          <a:bodyPr wrap="square" lIns="0" tIns="0" rIns="0" bIns="0" rtlCol="0" anchor="ctr"/>
          <a:lstStyle/>
          <a:p>
            <a:pPr indent="0" marL="0">
              <a:buNone/>
            </a:pPr>
            <a:r>
              <a:rPr lang="en-US" sz="1250" dirty="0">
                <a:solidFill>
                  <a:srgbClr val="232F3E"/>
                </a:solidFill>
                <a:latin typeface="Arial" pitchFamily="34" charset="0"/>
                <a:ea typeface="Arial" pitchFamily="34" charset="-122"/>
                <a:cs typeface="Arial" pitchFamily="34" charset="-120"/>
              </a:rPr>
              <a:t>Batch Ingestion  •  Files &gt;100MB</a:t>
            </a:r>
            <a:endParaRPr lang="en-US" sz="1250" dirty="0"/>
          </a:p>
        </p:txBody>
      </p:sp>
      <p:sp>
        <p:nvSpPr>
          <p:cNvPr id="8" name="Shape 6"/>
          <p:cNvSpPr/>
          <p:nvPr/>
        </p:nvSpPr>
        <p:spPr>
          <a:xfrm>
            <a:off x="822960" y="5001768"/>
            <a:ext cx="5120640" cy="457200"/>
          </a:xfrm>
          <a:prstGeom prst="roundRect">
            <a:avLst>
              <a:gd name="adj" fmla="val 16000"/>
            </a:avLst>
          </a:prstGeom>
          <a:solidFill>
            <a:srgbClr val="FFFFFF">
              <a:alpha val="95000"/>
            </a:srgbClr>
          </a:solidFill>
          <a:ln w="12700">
            <a:solidFill>
              <a:srgbClr val="E2E4E8"/>
            </a:solidFill>
            <a:prstDash val="solid"/>
          </a:ln>
        </p:spPr>
      </p:sp>
      <p:sp>
        <p:nvSpPr>
          <p:cNvPr id="9" name="Text 7"/>
          <p:cNvSpPr/>
          <p:nvPr/>
        </p:nvSpPr>
        <p:spPr>
          <a:xfrm>
            <a:off x="1005840" y="5001768"/>
            <a:ext cx="4846320" cy="457200"/>
          </a:xfrm>
          <a:prstGeom prst="rect">
            <a:avLst/>
          </a:prstGeom>
          <a:noFill/>
          <a:ln/>
        </p:spPr>
        <p:txBody>
          <a:bodyPr wrap="square" lIns="0" tIns="0" rIns="0" bIns="0" rtlCol="0" anchor="ctr"/>
          <a:lstStyle/>
          <a:p>
            <a:pPr indent="0" marL="0">
              <a:buNone/>
            </a:pPr>
            <a:r>
              <a:rPr lang="en-US" sz="1250" dirty="0">
                <a:solidFill>
                  <a:srgbClr val="232F3E"/>
                </a:solidFill>
                <a:latin typeface="Arial" pitchFamily="34" charset="0"/>
                <a:ea typeface="Arial" pitchFamily="34" charset="-122"/>
                <a:cs typeface="Arial" pitchFamily="34" charset="-120"/>
              </a:rPr>
              <a:t>Public Source → Private VPC</a:t>
            </a:r>
            <a:endParaRPr lang="en-US" sz="1250" dirty="0"/>
          </a:p>
        </p:txBody>
      </p:sp>
      <p:sp>
        <p:nvSpPr>
          <p:cNvPr id="10" name="Shape 8"/>
          <p:cNvSpPr/>
          <p:nvPr/>
        </p:nvSpPr>
        <p:spPr>
          <a:xfrm>
            <a:off x="822960" y="5568696"/>
            <a:ext cx="5120640" cy="457200"/>
          </a:xfrm>
          <a:prstGeom prst="roundRect">
            <a:avLst>
              <a:gd name="adj" fmla="val 16000"/>
            </a:avLst>
          </a:prstGeom>
          <a:solidFill>
            <a:srgbClr val="FFFFFF">
              <a:alpha val="95000"/>
            </a:srgbClr>
          </a:solidFill>
          <a:ln w="12700">
            <a:solidFill>
              <a:srgbClr val="E2E4E8"/>
            </a:solidFill>
            <a:prstDash val="solid"/>
          </a:ln>
        </p:spPr>
      </p:sp>
      <p:sp>
        <p:nvSpPr>
          <p:cNvPr id="11" name="Text 9"/>
          <p:cNvSpPr/>
          <p:nvPr/>
        </p:nvSpPr>
        <p:spPr>
          <a:xfrm>
            <a:off x="1005840" y="5568696"/>
            <a:ext cx="4846320" cy="457200"/>
          </a:xfrm>
          <a:prstGeom prst="rect">
            <a:avLst/>
          </a:prstGeom>
          <a:noFill/>
          <a:ln/>
        </p:spPr>
        <p:txBody>
          <a:bodyPr wrap="square" lIns="0" tIns="0" rIns="0" bIns="0" rtlCol="0" anchor="ctr"/>
          <a:lstStyle/>
          <a:p>
            <a:pPr indent="0" marL="0">
              <a:buNone/>
            </a:pPr>
            <a:r>
              <a:rPr lang="en-US" sz="1250" dirty="0">
                <a:solidFill>
                  <a:srgbClr val="232F3E"/>
                </a:solidFill>
                <a:latin typeface="Arial" pitchFamily="34" charset="0"/>
                <a:ea typeface="Arial" pitchFamily="34" charset="-122"/>
                <a:cs typeface="Arial" pitchFamily="34" charset="-120"/>
              </a:rPr>
              <a:t>Tableau ⇄ Athena via PrivateLink</a:t>
            </a:r>
            <a:endParaRPr lang="en-US" sz="1250" dirty="0"/>
          </a:p>
        </p:txBody>
      </p:sp>
      <p:sp>
        <p:nvSpPr>
          <p:cNvPr id="12" name="Text 10"/>
          <p:cNvSpPr/>
          <p:nvPr/>
        </p:nvSpPr>
        <p:spPr>
          <a:xfrm>
            <a:off x="822960" y="6400800"/>
            <a:ext cx="10058400" cy="320040"/>
          </a:xfrm>
          <a:prstGeom prst="rect">
            <a:avLst/>
          </a:prstGeom>
          <a:noFill/>
          <a:ln/>
        </p:spPr>
        <p:txBody>
          <a:bodyPr wrap="square" lIns="0" tIns="0" rIns="0" bIns="0" rtlCol="0" anchor="ctr"/>
          <a:lstStyle/>
          <a:p>
            <a:pPr indent="0" marL="0">
              <a:buNone/>
            </a:pPr>
            <a:r>
              <a:rPr lang="en-US" sz="1150" dirty="0">
                <a:solidFill>
                  <a:srgbClr val="B36B00"/>
                </a:solidFill>
                <a:latin typeface="Arial" pitchFamily="34" charset="0"/>
                <a:ea typeface="Arial" pitchFamily="34" charset="-122"/>
                <a:cs typeface="Arial" pitchFamily="34" charset="-120"/>
              </a:rPr>
              <a:t>data.gov.sg  →  Amazon S3  →  AWS Glue  →  Amazon Athena  →  Tableau</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lIns="0" tIns="0" rIns="0" bIns="0" rtlCol="0" anchor="ctr"/>
          <a:lstStyle/>
          <a:p>
            <a:pPr indent="0" marL="0">
              <a:buNone/>
            </a:pPr>
            <a:r>
              <a:rPr lang="en-US" sz="2500" b="1" dirty="0">
                <a:solidFill>
                  <a:srgbClr val="232F3E"/>
                </a:solidFill>
                <a:latin typeface="Arial" pitchFamily="34" charset="0"/>
                <a:ea typeface="Arial" pitchFamily="34" charset="-122"/>
                <a:cs typeface="Arial" pitchFamily="34" charset="-120"/>
              </a:rPr>
              <a:t>Requirements Recap</a:t>
            </a:r>
            <a:endParaRPr lang="en-US" sz="2500" dirty="0"/>
          </a:p>
        </p:txBody>
      </p:sp>
      <p:sp>
        <p:nvSpPr>
          <p:cNvPr id="3" name="Text 1"/>
          <p:cNvSpPr/>
          <p:nvPr/>
        </p:nvSpPr>
        <p:spPr>
          <a:xfrm>
            <a:off x="457200" y="749808"/>
            <a:ext cx="11247120" cy="320040"/>
          </a:xfrm>
          <a:prstGeom prst="rect">
            <a:avLst/>
          </a:prstGeom>
          <a:noFill/>
          <a:ln/>
        </p:spPr>
        <p:txBody>
          <a:bodyPr wrap="square" lIns="0" tIns="0" rIns="0" bIns="0" rtlCol="0" anchor="ctr"/>
          <a:lstStyle/>
          <a:p>
            <a:pPr indent="0" marL="0">
              <a:buNone/>
            </a:pPr>
            <a:r>
              <a:rPr lang="en-US" sz="1250" dirty="0">
                <a:solidFill>
                  <a:srgbClr val="545B64"/>
                </a:solidFill>
                <a:latin typeface="Arial" pitchFamily="34" charset="0"/>
                <a:ea typeface="Arial" pitchFamily="34" charset="-122"/>
                <a:cs typeface="Arial" pitchFamily="34" charset="-120"/>
              </a:rPr>
              <a:t>Two solution patterns, one shared data lake target (Amazon S3)</a:t>
            </a:r>
            <a:endParaRPr lang="en-US" sz="1250" dirty="0"/>
          </a:p>
        </p:txBody>
      </p:sp>
      <p:sp>
        <p:nvSpPr>
          <p:cNvPr id="4" name="Text 2"/>
          <p:cNvSpPr/>
          <p:nvPr/>
        </p:nvSpPr>
        <p:spPr>
          <a:xfrm>
            <a:off x="457200" y="1170432"/>
            <a:ext cx="11247120" cy="868680"/>
          </a:xfrm>
          <a:prstGeom prst="rect">
            <a:avLst/>
          </a:prstGeom>
          <a:solidFill>
            <a:srgbClr val="F7F8FA"/>
          </a:solidFill>
          <a:ln w="9525">
            <a:solidFill>
              <a:srgbClr val="E2E4E8"/>
            </a:solidFill>
          </a:ln>
        </p:spPr>
        <p:txBody>
          <a:bodyPr wrap="square" lIns="0" tIns="0" rIns="0" bIns="0" rtlCol="0" anchor="t"/>
          <a:lstStyle/>
          <a:p>
            <a:pPr indent="0" marL="0">
              <a:lnSpc>
                <a:spcPct val="115000"/>
              </a:lnSpc>
              <a:buNone/>
            </a:pPr>
            <a:r>
              <a:rPr lang="en-US" sz="1250" dirty="0">
                <a:solidFill>
                  <a:srgbClr val="232F3E"/>
                </a:solidFill>
                <a:latin typeface="Arial" pitchFamily="34" charset="0"/>
                <a:ea typeface="Arial" pitchFamily="34" charset="-122"/>
                <a:cs typeface="Arial" pitchFamily="34" charset="-120"/>
              </a:rPr>
              <a:t>This assignment asks for two connected designs. First, a safe way to bring housing data from a public government website into our private cloud storage, even when files are large. Second, a safe way for our analysts to query that stored data using Tableau, without that query traffic ever needing to travel over the public internet. Both designs are explained on their own slides further in this deck, with a diagram for each.</a:t>
            </a:r>
            <a:endParaRPr lang="en-US" sz="1250" dirty="0"/>
          </a:p>
        </p:txBody>
      </p:sp>
      <p:sp>
        <p:nvSpPr>
          <p:cNvPr id="5" name="Shape 3"/>
          <p:cNvSpPr/>
          <p:nvPr/>
        </p:nvSpPr>
        <p:spPr>
          <a:xfrm>
            <a:off x="457200" y="2240280"/>
            <a:ext cx="5394960" cy="3657600"/>
          </a:xfrm>
          <a:prstGeom prst="roundRect">
            <a:avLst>
              <a:gd name="adj" fmla="val 2000"/>
            </a:avLst>
          </a:prstGeom>
          <a:solidFill>
            <a:srgbClr val="FFFFFF">
              <a:alpha val="95000"/>
            </a:srgbClr>
          </a:solidFill>
          <a:ln w="12700">
            <a:solidFill>
              <a:srgbClr val="E2E4E8"/>
            </a:solidFill>
            <a:prstDash val="solid"/>
          </a:ln>
        </p:spPr>
      </p:sp>
      <p:sp>
        <p:nvSpPr>
          <p:cNvPr id="6" name="Shape 4"/>
          <p:cNvSpPr/>
          <p:nvPr/>
        </p:nvSpPr>
        <p:spPr>
          <a:xfrm>
            <a:off x="457200" y="2240280"/>
            <a:ext cx="5394960" cy="594360"/>
          </a:xfrm>
          <a:prstGeom prst="roundRect">
            <a:avLst>
              <a:gd name="adj" fmla="val 12308"/>
            </a:avLst>
          </a:prstGeom>
          <a:solidFill>
            <a:srgbClr val="232F3E"/>
          </a:solidFill>
          <a:ln w="12700">
            <a:solidFill>
              <a:srgbClr val="232F3E"/>
            </a:solidFill>
            <a:prstDash val="solid"/>
          </a:ln>
        </p:spPr>
      </p:sp>
      <p:sp>
        <p:nvSpPr>
          <p:cNvPr id="7" name="Text 5"/>
          <p:cNvSpPr/>
          <p:nvPr/>
        </p:nvSpPr>
        <p:spPr>
          <a:xfrm>
            <a:off x="731520" y="2240280"/>
            <a:ext cx="4846320" cy="5943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Data Ingestion</a:t>
            </a:r>
            <a:endParaRPr lang="en-US" sz="1600" dirty="0"/>
          </a:p>
        </p:txBody>
      </p:sp>
      <p:sp>
        <p:nvSpPr>
          <p:cNvPr id="8" name="Text 6"/>
          <p:cNvSpPr/>
          <p:nvPr/>
        </p:nvSpPr>
        <p:spPr>
          <a:xfrm>
            <a:off x="777240" y="3017520"/>
            <a:ext cx="4754880" cy="2743200"/>
          </a:xfrm>
          <a:prstGeom prst="rect">
            <a:avLst/>
          </a:prstGeom>
          <a:noFill/>
          <a:ln/>
        </p:spPr>
        <p:txBody>
          <a:bodyPr wrap="square" lIns="0" tIns="0" rIns="0" bIns="0" rtlCol="0" anchor="t"/>
          <a:lstStyle/>
          <a:p>
            <a:pPr marL="228600" indent="-228600">
              <a:spcAft>
                <a:spcPts val="1400"/>
              </a:spcAft>
              <a:buSzPct val="100000"/>
              <a:buChar char="•"/>
            </a:pPr>
            <a:r>
              <a:rPr lang="en-US" sz="1300" dirty="0">
                <a:solidFill>
                  <a:srgbClr val="232F3E"/>
                </a:solidFill>
                <a:latin typeface="Arial" pitchFamily="34" charset="0"/>
                <a:ea typeface="Arial" pitchFamily="34" charset="-122"/>
                <a:cs typeface="Arial" pitchFamily="34" charset="-120"/>
              </a:rPr>
              <a:t>Batch ingestion from data.gov.sg (public internet)</a:t>
            </a:r>
            <a:endParaRPr lang="en-US" sz="1300" dirty="0"/>
          </a:p>
          <a:p>
            <a:pPr marL="228600" indent="-228600">
              <a:spcAft>
                <a:spcPts val="1400"/>
              </a:spcAft>
              <a:buSzPct val="100000"/>
              <a:buChar char="•"/>
            </a:pPr>
            <a:r>
              <a:rPr lang="en-US" sz="1300" dirty="0">
                <a:solidFill>
                  <a:srgbClr val="232F3E"/>
                </a:solidFill>
                <a:latin typeface="Arial" pitchFamily="34" charset="0"/>
                <a:ea typeface="Arial" pitchFamily="34" charset="-122"/>
                <a:cs typeface="Arial" pitchFamily="34" charset="-120"/>
              </a:rPr>
              <a:t>Must support large file transmission (&gt;100MB)</a:t>
            </a:r>
            <a:endParaRPr lang="en-US" sz="1300" dirty="0"/>
          </a:p>
          <a:p>
            <a:pPr marL="228600" indent="-228600">
              <a:spcAft>
                <a:spcPts val="1400"/>
              </a:spcAft>
              <a:buSzPct val="100000"/>
              <a:buChar char="•"/>
            </a:pPr>
            <a:r>
              <a:rPr lang="en-US" sz="1300" dirty="0">
                <a:solidFill>
                  <a:srgbClr val="232F3E"/>
                </a:solidFill>
                <a:latin typeface="Arial" pitchFamily="34" charset="0"/>
                <a:ea typeface="Arial" pitchFamily="34" charset="-122"/>
                <a:cs typeface="Arial" pitchFamily="34" charset="-120"/>
              </a:rPr>
              <a:t>Source is public-facing; HDB's platform sits in private VPCs</a:t>
            </a:r>
            <a:endParaRPr lang="en-US" sz="1300" dirty="0"/>
          </a:p>
          <a:p>
            <a:pPr marL="228600" indent="-228600">
              <a:spcAft>
                <a:spcPts val="1400"/>
              </a:spcAft>
              <a:buSzPct val="100000"/>
              <a:buChar char="•"/>
            </a:pPr>
            <a:r>
              <a:rPr lang="en-US" sz="1300" dirty="0">
                <a:solidFill>
                  <a:srgbClr val="232F3E"/>
                </a:solidFill>
                <a:latin typeface="Arial" pitchFamily="34" charset="0"/>
                <a:ea typeface="Arial" pitchFamily="34" charset="-122"/>
                <a:cs typeface="Arial" pitchFamily="34" charset="-120"/>
              </a:rPr>
              <a:t>Design must factor in network / system segmentation for security</a:t>
            </a:r>
            <a:endParaRPr lang="en-US" sz="1300" dirty="0"/>
          </a:p>
        </p:txBody>
      </p:sp>
      <p:sp>
        <p:nvSpPr>
          <p:cNvPr id="9" name="Shape 7"/>
          <p:cNvSpPr/>
          <p:nvPr/>
        </p:nvSpPr>
        <p:spPr>
          <a:xfrm>
            <a:off x="6309360" y="2240280"/>
            <a:ext cx="5394960" cy="3657600"/>
          </a:xfrm>
          <a:prstGeom prst="roundRect">
            <a:avLst>
              <a:gd name="adj" fmla="val 2000"/>
            </a:avLst>
          </a:prstGeom>
          <a:solidFill>
            <a:srgbClr val="FFFFFF">
              <a:alpha val="95000"/>
            </a:srgbClr>
          </a:solidFill>
          <a:ln w="12700">
            <a:solidFill>
              <a:srgbClr val="E2E4E8"/>
            </a:solidFill>
            <a:prstDash val="solid"/>
          </a:ln>
        </p:spPr>
      </p:sp>
      <p:sp>
        <p:nvSpPr>
          <p:cNvPr id="10" name="Shape 8"/>
          <p:cNvSpPr/>
          <p:nvPr/>
        </p:nvSpPr>
        <p:spPr>
          <a:xfrm>
            <a:off x="6309360" y="2240280"/>
            <a:ext cx="5394960" cy="594360"/>
          </a:xfrm>
          <a:prstGeom prst="roundRect">
            <a:avLst>
              <a:gd name="adj" fmla="val 12308"/>
            </a:avLst>
          </a:prstGeom>
          <a:solidFill>
            <a:srgbClr val="232F3E"/>
          </a:solidFill>
          <a:ln w="12700">
            <a:solidFill>
              <a:srgbClr val="232F3E"/>
            </a:solidFill>
            <a:prstDash val="solid"/>
          </a:ln>
        </p:spPr>
      </p:sp>
      <p:sp>
        <p:nvSpPr>
          <p:cNvPr id="11" name="Text 9"/>
          <p:cNvSpPr/>
          <p:nvPr/>
        </p:nvSpPr>
        <p:spPr>
          <a:xfrm>
            <a:off x="6583680" y="2240280"/>
            <a:ext cx="4846320" cy="5943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Data Exploitation</a:t>
            </a:r>
            <a:endParaRPr lang="en-US" sz="1600" dirty="0"/>
          </a:p>
        </p:txBody>
      </p:sp>
      <p:sp>
        <p:nvSpPr>
          <p:cNvPr id="12" name="Text 10"/>
          <p:cNvSpPr/>
          <p:nvPr/>
        </p:nvSpPr>
        <p:spPr>
          <a:xfrm>
            <a:off x="6629400" y="3017520"/>
            <a:ext cx="4754880" cy="2743200"/>
          </a:xfrm>
          <a:prstGeom prst="rect">
            <a:avLst/>
          </a:prstGeom>
          <a:noFill/>
          <a:ln/>
        </p:spPr>
        <p:txBody>
          <a:bodyPr wrap="square" lIns="0" tIns="0" rIns="0" bIns="0" rtlCol="0" anchor="t"/>
          <a:lstStyle/>
          <a:p>
            <a:pPr marL="228600" indent="-228600">
              <a:spcAft>
                <a:spcPts val="1400"/>
              </a:spcAft>
              <a:buSzPct val="100000"/>
              <a:buChar char="•"/>
            </a:pPr>
            <a:r>
              <a:rPr lang="en-US" sz="1300" dirty="0">
                <a:solidFill>
                  <a:srgbClr val="232F3E"/>
                </a:solidFill>
                <a:latin typeface="Arial" pitchFamily="34" charset="0"/>
                <a:ea typeface="Arial" pitchFamily="34" charset="-122"/>
                <a:cs typeface="Arial" pitchFamily="34" charset="-120"/>
              </a:rPr>
              <a:t>Data Science team uses Tableau on AWS for analysis</a:t>
            </a:r>
            <a:endParaRPr lang="en-US" sz="1300" dirty="0"/>
          </a:p>
          <a:p>
            <a:pPr marL="228600" indent="-228600">
              <a:spcAft>
                <a:spcPts val="1400"/>
              </a:spcAft>
              <a:buSzPct val="100000"/>
              <a:buChar char="•"/>
            </a:pPr>
            <a:r>
              <a:rPr lang="en-US" sz="1300" dirty="0">
                <a:solidFill>
                  <a:srgbClr val="232F3E"/>
                </a:solidFill>
                <a:latin typeface="Arial" pitchFamily="34" charset="0"/>
                <a:ea typeface="Arial" pitchFamily="34" charset="-122"/>
                <a:cs typeface="Arial" pitchFamily="34" charset="-120"/>
              </a:rPr>
              <a:t>Integration via the Athena JDBC/ODBC Driver</a:t>
            </a:r>
            <a:endParaRPr lang="en-US" sz="1300" dirty="0"/>
          </a:p>
          <a:p>
            <a:pPr marL="228600" indent="-228600">
              <a:spcAft>
                <a:spcPts val="1400"/>
              </a:spcAft>
              <a:buSzPct val="100000"/>
              <a:buChar char="•"/>
            </a:pPr>
            <a:r>
              <a:rPr lang="en-US" sz="1300" dirty="0">
                <a:solidFill>
                  <a:srgbClr val="232F3E"/>
                </a:solidFill>
                <a:latin typeface="Arial" pitchFamily="34" charset="0"/>
                <a:ea typeface="Arial" pitchFamily="34" charset="-122"/>
                <a:cs typeface="Arial" pitchFamily="34" charset="-120"/>
              </a:rPr>
              <a:t>Athena's public endpoint is normally used by the driver</a:t>
            </a:r>
            <a:endParaRPr lang="en-US" sz="1300" dirty="0"/>
          </a:p>
          <a:p>
            <a:pPr marL="228600" indent="-228600">
              <a:spcAft>
                <a:spcPts val="1400"/>
              </a:spcAft>
              <a:buSzPct val="100000"/>
              <a:buChar char="•"/>
            </a:pPr>
            <a:r>
              <a:rPr lang="en-US" sz="1300" dirty="0">
                <a:solidFill>
                  <a:srgbClr val="232F3E"/>
                </a:solidFill>
                <a:latin typeface="Arial" pitchFamily="34" charset="0"/>
                <a:ea typeface="Arial" pitchFamily="34" charset="-122"/>
                <a:cs typeface="Arial" pitchFamily="34" charset="-120"/>
              </a:rPr>
              <a:t>Design must make this traffic private where possible</a:t>
            </a:r>
            <a:endParaRPr lang="en-US" sz="1300" dirty="0"/>
          </a:p>
        </p:txBody>
      </p:sp>
      <p:sp>
        <p:nvSpPr>
          <p:cNvPr id="13" name="Text 11"/>
          <p:cNvSpPr/>
          <p:nvPr/>
        </p:nvSpPr>
        <p:spPr>
          <a:xfrm>
            <a:off x="457200" y="6080760"/>
            <a:ext cx="11247120" cy="365760"/>
          </a:xfrm>
          <a:prstGeom prst="rect">
            <a:avLst/>
          </a:prstGeom>
          <a:noFill/>
          <a:ln/>
        </p:spPr>
        <p:txBody>
          <a:bodyPr wrap="square" lIns="0" tIns="0" rIns="0" bIns="0" rtlCol="0" anchor="ctr"/>
          <a:lstStyle/>
          <a:p>
            <a:pPr indent="0" marL="0">
              <a:buNone/>
            </a:pPr>
            <a:r>
              <a:rPr lang="en-US" sz="1150" dirty="0">
                <a:solidFill>
                  <a:srgbClr val="545B64"/>
                </a:solidFill>
                <a:latin typeface="Arial" pitchFamily="34" charset="0"/>
                <a:ea typeface="Arial" pitchFamily="34" charset="-122"/>
                <a:cs typeface="Arial" pitchFamily="34" charset="-120"/>
              </a:rPr>
              <a:t>Common target: all ingested and query-ready data resides in Amazon S3 (assumed AWS-based data platform)</a:t>
            </a:r>
            <a:endParaRPr lang="en-US" sz="1150" dirty="0"/>
          </a:p>
        </p:txBody>
      </p:sp>
      <p:sp>
        <p:nvSpPr>
          <p:cNvPr id="14" name="Text 12"/>
          <p:cNvSpPr/>
          <p:nvPr/>
        </p:nvSpPr>
        <p:spPr>
          <a:xfrm>
            <a:off x="11658600" y="6492240"/>
            <a:ext cx="457200" cy="274320"/>
          </a:xfrm>
          <a:prstGeom prst="rect">
            <a:avLst/>
          </a:prstGeom>
          <a:noFill/>
          <a:ln/>
        </p:spPr>
        <p:txBody>
          <a:bodyPr wrap="square" lIns="0" tIns="0" rIns="0" bIns="0" rtlCol="0" anchor="ctr"/>
          <a:lstStyle/>
          <a:p>
            <a:pPr algn="r" indent="0" marL="0">
              <a:buNone/>
            </a:pPr>
            <a:r>
              <a:rPr lang="en-US" sz="1000" dirty="0">
                <a:solidFill>
                  <a:srgbClr val="545B64"/>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lIns="0" tIns="0" rIns="0" bIns="0" rtlCol="0" anchor="ctr"/>
          <a:lstStyle/>
          <a:p>
            <a:pPr indent="0" marL="0">
              <a:buNone/>
            </a:pPr>
            <a:r>
              <a:rPr lang="en-US" sz="2500" b="1" dirty="0">
                <a:solidFill>
                  <a:srgbClr val="232F3E"/>
                </a:solidFill>
                <a:latin typeface="Arial" pitchFamily="34" charset="0"/>
                <a:ea typeface="Arial" pitchFamily="34" charset="-122"/>
                <a:cs typeface="Arial" pitchFamily="34" charset="-120"/>
              </a:rPr>
              <a:t>Design Assumptions</a:t>
            </a:r>
            <a:endParaRPr lang="en-US" sz="2500" dirty="0"/>
          </a:p>
        </p:txBody>
      </p:sp>
      <p:sp>
        <p:nvSpPr>
          <p:cNvPr id="3" name="Text 1"/>
          <p:cNvSpPr/>
          <p:nvPr/>
        </p:nvSpPr>
        <p:spPr>
          <a:xfrm>
            <a:off x="457200" y="749808"/>
            <a:ext cx="11247120" cy="320040"/>
          </a:xfrm>
          <a:prstGeom prst="rect">
            <a:avLst/>
          </a:prstGeom>
          <a:noFill/>
          <a:ln/>
        </p:spPr>
        <p:txBody>
          <a:bodyPr wrap="square" lIns="0" tIns="0" rIns="0" bIns="0" rtlCol="0" anchor="ctr"/>
          <a:lstStyle/>
          <a:p>
            <a:pPr indent="0" marL="0">
              <a:buNone/>
            </a:pPr>
            <a:r>
              <a:rPr lang="en-US" sz="1250" dirty="0">
                <a:solidFill>
                  <a:srgbClr val="545B64"/>
                </a:solidFill>
                <a:latin typeface="Arial" pitchFamily="34" charset="0"/>
                <a:ea typeface="Arial" pitchFamily="34" charset="-122"/>
                <a:cs typeface="Arial" pitchFamily="34" charset="-120"/>
              </a:rPr>
              <a:t>Stated explicitly, since the assignment allows necessary assumptions</a:t>
            </a:r>
            <a:endParaRPr lang="en-US" sz="1250" dirty="0"/>
          </a:p>
        </p:txBody>
      </p:sp>
      <p:sp>
        <p:nvSpPr>
          <p:cNvPr id="4" name="Text 2"/>
          <p:cNvSpPr/>
          <p:nvPr/>
        </p:nvSpPr>
        <p:spPr>
          <a:xfrm>
            <a:off x="457200" y="1170432"/>
            <a:ext cx="11247120" cy="685800"/>
          </a:xfrm>
          <a:prstGeom prst="rect">
            <a:avLst/>
          </a:prstGeom>
          <a:solidFill>
            <a:srgbClr val="F7F8FA"/>
          </a:solidFill>
          <a:ln w="9525">
            <a:solidFill>
              <a:srgbClr val="E2E4E8"/>
            </a:solidFill>
          </a:ln>
        </p:spPr>
        <p:txBody>
          <a:bodyPr wrap="square" lIns="0" tIns="0" rIns="0" bIns="0" rtlCol="0" anchor="t"/>
          <a:lstStyle/>
          <a:p>
            <a:pPr indent="0" marL="0">
              <a:lnSpc>
                <a:spcPct val="115000"/>
              </a:lnSpc>
              <a:buNone/>
            </a:pPr>
            <a:r>
              <a:rPr lang="en-US" sz="1250" dirty="0">
                <a:solidFill>
                  <a:srgbClr val="232F3E"/>
                </a:solidFill>
                <a:latin typeface="Arial" pitchFamily="34" charset="0"/>
                <a:ea typeface="Arial" pitchFamily="34" charset="-122"/>
                <a:cs typeface="Arial" pitchFamily="34" charset="-120"/>
              </a:rPr>
              <a:t>The assignment does not specify every detail of HDB's real environment, so reasonable assumptions were needed to complete a concrete design. Each assumption below is stated openly rather than silently built into the diagrams, so it can be corrected easily if it does not match HDB's actual setup.</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11247120" cy="4480560"/>
        </p:xfrm>
        <a:graphic>
          <a:graphicData uri="http://schemas.openxmlformats.org/drawingml/2006/table">
            <a:tbl>
              <a:tblPr/>
              <a:tblGrid>
                <a:gridCol w="2377440"/>
                <a:gridCol w="8869680"/>
              </a:tblGrid>
              <a:tr h="4978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Area</a:t>
                      </a:r>
                      <a:endParaRPr lang="en-US" sz="120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232F3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Assumption</a:t>
                      </a:r>
                      <a:endParaRPr lang="en-US" sz="120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232F3E"/>
                    </a:solidFill>
                  </a:tcPr>
                </a:tc>
              </a:tr>
              <a:tr h="497840">
                <a:tc>
                  <a:txBody>
                    <a:bodyPr/>
                    <a:lstStyle/>
                    <a:p>
                      <a:pPr indent="0" marL="0">
                        <a:buNone/>
                      </a:pPr>
                      <a:r>
                        <a:rPr lang="en-US" sz="1020" b="1" dirty="0">
                          <a:solidFill>
                            <a:srgbClr val="232F3E"/>
                          </a:solidFill>
                          <a:latin typeface="Arial" pitchFamily="34" charset="0"/>
                          <a:ea typeface="Arial" pitchFamily="34" charset="-122"/>
                          <a:cs typeface="Arial" pitchFamily="34" charset="-120"/>
                        </a:rPr>
                        <a:t>Region / Account</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20" dirty="0">
                          <a:solidFill>
                            <a:srgbClr val="545B64"/>
                          </a:solidFill>
                          <a:latin typeface="Arial" pitchFamily="34" charset="0"/>
                          <a:ea typeface="Arial" pitchFamily="34" charset="-122"/>
                          <a:cs typeface="Arial" pitchFamily="34" charset="-120"/>
                        </a:rPr>
                        <a:t>A single AWS account and region (for example, ap-southeast-1) is used for this design. A multi-account landing-zone setup is a natural next step for production, but is kept out of scope here to keep the design focused.</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r>
              <a:tr h="497840">
                <a:tc>
                  <a:txBody>
                    <a:bodyPr/>
                    <a:lstStyle/>
                    <a:p>
                      <a:pPr indent="0" marL="0">
                        <a:buNone/>
                      </a:pPr>
                      <a:r>
                        <a:rPr lang="en-US" sz="1020" b="1" dirty="0">
                          <a:solidFill>
                            <a:srgbClr val="232F3E"/>
                          </a:solidFill>
                          <a:latin typeface="Arial" pitchFamily="34" charset="0"/>
                          <a:ea typeface="Arial" pitchFamily="34" charset="-122"/>
                          <a:cs typeface="Arial" pitchFamily="34" charset="-120"/>
                        </a:rPr>
                        <a:t>Source authentication</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7F8FA"/>
                    </a:solidFill>
                  </a:tcPr>
                </a:tc>
                <a:tc>
                  <a:txBody>
                    <a:bodyPr/>
                    <a:lstStyle/>
                    <a:p>
                      <a:pPr indent="0" marL="0">
                        <a:buNone/>
                      </a:pPr>
                      <a:r>
                        <a:rPr lang="en-US" sz="1020" dirty="0">
                          <a:solidFill>
                            <a:srgbClr val="545B64"/>
                          </a:solidFill>
                          <a:latin typeface="Arial" pitchFamily="34" charset="0"/>
                          <a:ea typeface="Arial" pitchFamily="34" charset="-122"/>
                          <a:cs typeface="Arial" pitchFamily="34" charset="-120"/>
                        </a:rPr>
                        <a:t>data.gov.sg is assumed to need no API key, since it is an open public dataset. If a key were needed, it would be stored safely in AWS Secrets Manager and retrieved only by the ingestion task's role.</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7F8FA"/>
                    </a:solidFill>
                  </a:tcPr>
                </a:tc>
              </a:tr>
              <a:tr h="497840">
                <a:tc>
                  <a:txBody>
                    <a:bodyPr/>
                    <a:lstStyle/>
                    <a:p>
                      <a:pPr indent="0" marL="0">
                        <a:buNone/>
                      </a:pPr>
                      <a:r>
                        <a:rPr lang="en-US" sz="1020" b="1" dirty="0">
                          <a:solidFill>
                            <a:srgbClr val="232F3E"/>
                          </a:solidFill>
                          <a:latin typeface="Arial" pitchFamily="34" charset="0"/>
                          <a:ea typeface="Arial" pitchFamily="34" charset="-122"/>
                          <a:cs typeface="Arial" pitchFamily="34" charset="-120"/>
                        </a:rPr>
                        <a:t>Ingestion cadence</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20" dirty="0">
                          <a:solidFill>
                            <a:srgbClr val="545B64"/>
                          </a:solidFill>
                          <a:latin typeface="Arial" pitchFamily="34" charset="0"/>
                          <a:ea typeface="Arial" pitchFamily="34" charset="-122"/>
                          <a:cs typeface="Arial" pitchFamily="34" charset="-120"/>
                        </a:rPr>
                        <a:t>Data is pulled on a schedule (for example, monthly), matching how often data.gov.sg publishes new files, not as a continuous, real-time stream.</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r>
              <a:tr h="497840">
                <a:tc>
                  <a:txBody>
                    <a:bodyPr/>
                    <a:lstStyle/>
                    <a:p>
                      <a:pPr indent="0" marL="0">
                        <a:buNone/>
                      </a:pPr>
                      <a:r>
                        <a:rPr lang="en-US" sz="1020" b="1" dirty="0">
                          <a:solidFill>
                            <a:srgbClr val="232F3E"/>
                          </a:solidFill>
                          <a:latin typeface="Arial" pitchFamily="34" charset="0"/>
                          <a:ea typeface="Arial" pitchFamily="34" charset="-122"/>
                          <a:cs typeface="Arial" pitchFamily="34" charset="-120"/>
                        </a:rPr>
                        <a:t>Ingestion compute</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7F8FA"/>
                    </a:solidFill>
                  </a:tcPr>
                </a:tc>
                <a:tc>
                  <a:txBody>
                    <a:bodyPr/>
                    <a:lstStyle/>
                    <a:p>
                      <a:pPr indent="0" marL="0">
                        <a:buNone/>
                      </a:pPr>
                      <a:r>
                        <a:rPr lang="en-US" sz="1020" dirty="0">
                          <a:solidFill>
                            <a:srgbClr val="545B64"/>
                          </a:solidFill>
                          <a:latin typeface="Arial" pitchFamily="34" charset="0"/>
                          <a:ea typeface="Arial" pitchFamily="34" charset="-122"/>
                          <a:cs typeface="Arial" pitchFamily="34" charset="-120"/>
                        </a:rPr>
                        <a:t>AWS Fargate, not AWS Lambda, is used to run the download step. The reasoning for this choice is explained on a later slide.</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7F8FA"/>
                    </a:solidFill>
                  </a:tcPr>
                </a:tc>
              </a:tr>
              <a:tr h="497840">
                <a:tc>
                  <a:txBody>
                    <a:bodyPr/>
                    <a:lstStyle/>
                    <a:p>
                      <a:pPr indent="0" marL="0">
                        <a:buNone/>
                      </a:pPr>
                      <a:r>
                        <a:rPr lang="en-US" sz="1020" b="1" dirty="0">
                          <a:solidFill>
                            <a:srgbClr val="232F3E"/>
                          </a:solidFill>
                          <a:latin typeface="Arial" pitchFamily="34" charset="0"/>
                          <a:ea typeface="Arial" pitchFamily="34" charset="-122"/>
                          <a:cs typeface="Arial" pitchFamily="34" charset="-120"/>
                        </a:rPr>
                        <a:t>Data format for exploitation</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20" dirty="0">
                          <a:solidFill>
                            <a:srgbClr val="545B64"/>
                          </a:solidFill>
                          <a:latin typeface="Arial" pitchFamily="34" charset="0"/>
                          <a:ea typeface="Arial" pitchFamily="34" charset="-122"/>
                          <a:cs typeface="Arial" pitchFamily="34" charset="-120"/>
                        </a:rPr>
                        <a:t>The cleaned data from Part 1 of this assignment is assumed to be converted into a column-based format called Parquet, split into folders by month, to make Athena queries faster.</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r>
              <a:tr h="497840">
                <a:tc>
                  <a:txBody>
                    <a:bodyPr/>
                    <a:lstStyle/>
                    <a:p>
                      <a:pPr indent="0" marL="0">
                        <a:buNone/>
                      </a:pPr>
                      <a:r>
                        <a:rPr lang="en-US" sz="1020" b="1" dirty="0">
                          <a:solidFill>
                            <a:srgbClr val="232F3E"/>
                          </a:solidFill>
                          <a:latin typeface="Arial" pitchFamily="34" charset="0"/>
                          <a:ea typeface="Arial" pitchFamily="34" charset="-122"/>
                          <a:cs typeface="Arial" pitchFamily="34" charset="-120"/>
                        </a:rPr>
                        <a:t>Tableau deployment</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7F8FA"/>
                    </a:solidFill>
                  </a:tcPr>
                </a:tc>
                <a:tc>
                  <a:txBody>
                    <a:bodyPr/>
                    <a:lstStyle/>
                    <a:p>
                      <a:pPr indent="0" marL="0">
                        <a:buNone/>
                      </a:pPr>
                      <a:r>
                        <a:rPr lang="en-US" sz="1020" dirty="0">
                          <a:solidFill>
                            <a:srgbClr val="545B64"/>
                          </a:solidFill>
                          <a:latin typeface="Arial" pitchFamily="34" charset="0"/>
                          <a:ea typeface="Arial" pitchFamily="34" charset="-122"/>
                          <a:cs typeface="Arial" pitchFamily="34" charset="-120"/>
                        </a:rPr>
                        <a:t>Tableau Server is assumed to run on a virtual machine (EC2) inside HDB's own private network, reached by analysts only through the corporate network or a VPN, never directly from the public internet.</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7F8FA"/>
                    </a:solidFill>
                  </a:tcPr>
                </a:tc>
              </a:tr>
              <a:tr h="497840">
                <a:tc>
                  <a:txBody>
                    <a:bodyPr/>
                    <a:lstStyle/>
                    <a:p>
                      <a:pPr indent="0" marL="0">
                        <a:buNone/>
                      </a:pPr>
                      <a:r>
                        <a:rPr lang="en-US" sz="1020" b="1" dirty="0">
                          <a:solidFill>
                            <a:srgbClr val="232F3E"/>
                          </a:solidFill>
                          <a:latin typeface="Arial" pitchFamily="34" charset="0"/>
                          <a:ea typeface="Arial" pitchFamily="34" charset="-122"/>
                          <a:cs typeface="Arial" pitchFamily="34" charset="-120"/>
                        </a:rPr>
                        <a:t>Metadata layer</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20" dirty="0">
                          <a:solidFill>
                            <a:srgbClr val="545B64"/>
                          </a:solidFill>
                          <a:latin typeface="Arial" pitchFamily="34" charset="0"/>
                          <a:ea typeface="Arial" pitchFamily="34" charset="-122"/>
                          <a:cs typeface="Arial" pitchFamily="34" charset="-120"/>
                        </a:rPr>
                        <a:t>AWS Glue Data Catalog is used to keep track of what tables and columns exist in the data, and a Glue Crawler keeps this information up to date automatically.</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r>
              <a:tr h="497840">
                <a:tc>
                  <a:txBody>
                    <a:bodyPr/>
                    <a:lstStyle/>
                    <a:p>
                      <a:pPr indent="0" marL="0">
                        <a:buNone/>
                      </a:pPr>
                      <a:r>
                        <a:rPr lang="en-US" sz="1020" b="1" dirty="0">
                          <a:solidFill>
                            <a:srgbClr val="232F3E"/>
                          </a:solidFill>
                          <a:latin typeface="Arial" pitchFamily="34" charset="0"/>
                          <a:ea typeface="Arial" pitchFamily="34" charset="-122"/>
                          <a:cs typeface="Arial" pitchFamily="34" charset="-120"/>
                        </a:rPr>
                        <a:t>IAM policies</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7F8FA"/>
                    </a:solidFill>
                  </a:tcPr>
                </a:tc>
                <a:tc>
                  <a:txBody>
                    <a:bodyPr/>
                    <a:lstStyle/>
                    <a:p>
                      <a:pPr indent="0" marL="0">
                        <a:buNone/>
                      </a:pPr>
                      <a:r>
                        <a:rPr lang="en-US" sz="1020" dirty="0">
                          <a:solidFill>
                            <a:srgbClr val="545B64"/>
                          </a:solidFill>
                          <a:latin typeface="Arial" pitchFamily="34" charset="0"/>
                          <a:ea typeface="Arial" pitchFamily="34" charset="-122"/>
                          <a:cs typeface="Arial" pitchFamily="34" charset="-120"/>
                        </a:rPr>
                        <a:t>Access permissions are described only at a conceptual, least-privilege level. Writing the exact permission policy documents is intentionally left out, as the assignment states this is not required.</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7F8FA"/>
                    </a:solidFill>
                  </a:tcPr>
                </a:tc>
              </a:tr>
            </a:tbl>
          </a:graphicData>
        </a:graphic>
      </p:graphicFrame>
      <p:sp>
        <p:nvSpPr>
          <p:cNvPr id="6" name="Text 3"/>
          <p:cNvSpPr/>
          <p:nvPr/>
        </p:nvSpPr>
        <p:spPr>
          <a:xfrm>
            <a:off x="11658600" y="6492240"/>
            <a:ext cx="457200" cy="274320"/>
          </a:xfrm>
          <a:prstGeom prst="rect">
            <a:avLst/>
          </a:prstGeom>
          <a:noFill/>
          <a:ln/>
        </p:spPr>
        <p:txBody>
          <a:bodyPr wrap="square" lIns="0" tIns="0" rIns="0" bIns="0" rtlCol="0" anchor="ctr"/>
          <a:lstStyle/>
          <a:p>
            <a:pPr algn="r" indent="0" marL="0">
              <a:buNone/>
            </a:pPr>
            <a:r>
              <a:rPr lang="en-US" sz="1000" dirty="0">
                <a:solidFill>
                  <a:srgbClr val="545B64"/>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lIns="0" tIns="0" rIns="0" bIns="0" rtlCol="0" anchor="ctr"/>
          <a:lstStyle/>
          <a:p>
            <a:pPr indent="0" marL="0">
              <a:buNone/>
            </a:pPr>
            <a:r>
              <a:rPr lang="en-US" sz="2500" b="1" dirty="0">
                <a:solidFill>
                  <a:srgbClr val="232F3E"/>
                </a:solidFill>
                <a:latin typeface="Arial" pitchFamily="34" charset="0"/>
                <a:ea typeface="Arial" pitchFamily="34" charset="-122"/>
                <a:cs typeface="Arial" pitchFamily="34" charset="-120"/>
              </a:rPr>
              <a:t>Understanding the Private Shortcut</a:t>
            </a:r>
            <a:endParaRPr lang="en-US" sz="2500" dirty="0"/>
          </a:p>
        </p:txBody>
      </p:sp>
      <p:sp>
        <p:nvSpPr>
          <p:cNvPr id="3" name="Text 1"/>
          <p:cNvSpPr/>
          <p:nvPr/>
        </p:nvSpPr>
        <p:spPr>
          <a:xfrm>
            <a:off x="457200" y="749808"/>
            <a:ext cx="11247120" cy="320040"/>
          </a:xfrm>
          <a:prstGeom prst="rect">
            <a:avLst/>
          </a:prstGeom>
          <a:noFill/>
          <a:ln/>
        </p:spPr>
        <p:txBody>
          <a:bodyPr wrap="square" lIns="0" tIns="0" rIns="0" bIns="0" rtlCol="0" anchor="ctr"/>
          <a:lstStyle/>
          <a:p>
            <a:pPr indent="0" marL="0">
              <a:buNone/>
            </a:pPr>
            <a:r>
              <a:rPr lang="en-US" sz="1250" dirty="0">
                <a:solidFill>
                  <a:srgbClr val="545B64"/>
                </a:solidFill>
                <a:latin typeface="Arial" pitchFamily="34" charset="0"/>
                <a:ea typeface="Arial" pitchFamily="34" charset="-122"/>
                <a:cs typeface="Arial" pitchFamily="34" charset="-120"/>
              </a:rPr>
              <a:t>The technical detail behind every "never touches the public internet" claim in this design</a:t>
            </a:r>
            <a:endParaRPr lang="en-US" sz="1250" dirty="0"/>
          </a:p>
        </p:txBody>
      </p:sp>
      <p:sp>
        <p:nvSpPr>
          <p:cNvPr id="4" name="Text 2"/>
          <p:cNvSpPr/>
          <p:nvPr/>
        </p:nvSpPr>
        <p:spPr>
          <a:xfrm>
            <a:off x="457200" y="1143000"/>
            <a:ext cx="11247120" cy="777240"/>
          </a:xfrm>
          <a:prstGeom prst="rect">
            <a:avLst/>
          </a:prstGeom>
          <a:solidFill>
            <a:srgbClr val="F7F8FA"/>
          </a:solidFill>
          <a:ln w="9525">
            <a:solidFill>
              <a:srgbClr val="E2E4E8"/>
            </a:solidFill>
          </a:ln>
        </p:spPr>
        <p:txBody>
          <a:bodyPr wrap="square" lIns="0" tIns="0" rIns="0" bIns="0" rtlCol="0" anchor="t"/>
          <a:lstStyle/>
          <a:p>
            <a:pPr indent="0" marL="0">
              <a:lnSpc>
                <a:spcPct val="115000"/>
              </a:lnSpc>
              <a:buNone/>
            </a:pPr>
            <a:r>
              <a:rPr lang="en-US" sz="1250" dirty="0">
                <a:solidFill>
                  <a:srgbClr val="232F3E"/>
                </a:solidFill>
                <a:latin typeface="Arial" pitchFamily="34" charset="0"/>
                <a:ea typeface="Arial" pitchFamily="34" charset="-122"/>
                <a:cs typeface="Arial" pitchFamily="34" charset="-120"/>
              </a:rPr>
              <a:t>The diagrams ahead use the phrase private shortcut several times, for example when a file is saved into Amazon S3, or when Tableau queries Amazon Athena. This slide explains exactly what that shortcut is, how it works, and why it exists, since it is the direct technical answer to two specific requirements in this assignment.</a:t>
            </a:r>
            <a:endParaRPr lang="en-US" sz="1250" dirty="0"/>
          </a:p>
        </p:txBody>
      </p:sp>
      <p:sp>
        <p:nvSpPr>
          <p:cNvPr id="5" name="Text 3"/>
          <p:cNvSpPr/>
          <p:nvPr/>
        </p:nvSpPr>
        <p:spPr>
          <a:xfrm>
            <a:off x="457200" y="2057400"/>
            <a:ext cx="11247120" cy="292608"/>
          </a:xfrm>
          <a:prstGeom prst="rect">
            <a:avLst/>
          </a:prstGeom>
          <a:noFill/>
          <a:ln/>
        </p:spPr>
        <p:txBody>
          <a:bodyPr wrap="square" lIns="0" tIns="0" rIns="0" bIns="0" rtlCol="0" anchor="ctr"/>
          <a:lstStyle/>
          <a:p>
            <a:pPr indent="0" marL="0">
              <a:buNone/>
            </a:pPr>
            <a:r>
              <a:rPr lang="en-US" sz="1400" b="1" dirty="0">
                <a:solidFill>
                  <a:srgbClr val="232F3E"/>
                </a:solidFill>
                <a:latin typeface="Arial" pitchFamily="34" charset="0"/>
                <a:ea typeface="Arial" pitchFamily="34" charset="-122"/>
                <a:cs typeface="Arial" pitchFamily="34" charset="-120"/>
              </a:rPr>
              <a:t>What it actually is</a:t>
            </a:r>
            <a:endParaRPr lang="en-US" sz="1400" dirty="0"/>
          </a:p>
        </p:txBody>
      </p:sp>
      <p:sp>
        <p:nvSpPr>
          <p:cNvPr id="6" name="Text 4"/>
          <p:cNvSpPr/>
          <p:nvPr/>
        </p:nvSpPr>
        <p:spPr>
          <a:xfrm>
            <a:off x="457200" y="2359152"/>
            <a:ext cx="11247120" cy="868680"/>
          </a:xfrm>
          <a:prstGeom prst="rect">
            <a:avLst/>
          </a:prstGeom>
          <a:noFill/>
          <a:ln/>
        </p:spPr>
        <p:txBody>
          <a:bodyPr wrap="square" lIns="0" tIns="0" rIns="0" bIns="0" rtlCol="0" anchor="t"/>
          <a:lstStyle/>
          <a:p>
            <a:pPr indent="0" marL="0">
              <a:lnSpc>
                <a:spcPct val="115000"/>
              </a:lnSpc>
              <a:buNone/>
            </a:pPr>
            <a:r>
              <a:rPr lang="en-US" sz="1100" dirty="0">
                <a:solidFill>
                  <a:srgbClr val="232F3E"/>
                </a:solidFill>
                <a:latin typeface="Arial" pitchFamily="34" charset="0"/>
                <a:ea typeface="Arial" pitchFamily="34" charset="-122"/>
                <a:cs typeface="Arial" pitchFamily="34" charset="-120"/>
              </a:rPr>
              <a:t>Normally, if a computer inside a private network wants to reach an AWS service like Amazon S3 or Amazon Athena, its request has to leave the private network, travel across the public internet, and arrive at that service's public address, even though both the computer and the AWS service sit inside AWS's own data centres. A VPC Endpoint removes that unnecessary trip. It creates a direct, private connection from inside HDB's own private network straight to the AWS service, entirely over AWS's internal network, without ever touching the public internet and without needing a NAT Gateway or Internet Gateway.</a:t>
            </a:r>
            <a:endParaRPr lang="en-US" sz="1100" dirty="0"/>
          </a:p>
        </p:txBody>
      </p:sp>
      <p:sp>
        <p:nvSpPr>
          <p:cNvPr id="7" name="Shape 5"/>
          <p:cNvSpPr/>
          <p:nvPr/>
        </p:nvSpPr>
        <p:spPr>
          <a:xfrm>
            <a:off x="457200" y="3364992"/>
            <a:ext cx="5394960" cy="1828800"/>
          </a:xfrm>
          <a:prstGeom prst="roundRect">
            <a:avLst>
              <a:gd name="adj" fmla="val 4000"/>
            </a:avLst>
          </a:prstGeom>
          <a:solidFill>
            <a:srgbClr val="F7F8FA"/>
          </a:solidFill>
          <a:ln w="12700">
            <a:solidFill>
              <a:srgbClr val="E2E4E8"/>
            </a:solidFill>
            <a:prstDash val="solid"/>
          </a:ln>
        </p:spPr>
      </p:sp>
      <p:sp>
        <p:nvSpPr>
          <p:cNvPr id="8" name="Shape 6"/>
          <p:cNvSpPr/>
          <p:nvPr/>
        </p:nvSpPr>
        <p:spPr>
          <a:xfrm>
            <a:off x="457200" y="3364992"/>
            <a:ext cx="5394960" cy="566928"/>
          </a:xfrm>
          <a:prstGeom prst="roundRect">
            <a:avLst>
              <a:gd name="adj" fmla="val 12903"/>
            </a:avLst>
          </a:prstGeom>
          <a:solidFill>
            <a:srgbClr val="1D8102"/>
          </a:solidFill>
          <a:ln w="12700">
            <a:solidFill>
              <a:srgbClr val="1D8102"/>
            </a:solidFill>
            <a:prstDash val="solid"/>
          </a:ln>
        </p:spPr>
      </p:sp>
      <p:sp>
        <p:nvSpPr>
          <p:cNvPr id="9" name="Text 7"/>
          <p:cNvSpPr/>
          <p:nvPr/>
        </p:nvSpPr>
        <p:spPr>
          <a:xfrm>
            <a:off x="685800" y="3364992"/>
            <a:ext cx="4937760" cy="36576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Gateway Endpoint</a:t>
            </a:r>
            <a:endParaRPr lang="en-US" sz="1350" dirty="0"/>
          </a:p>
        </p:txBody>
      </p:sp>
      <p:sp>
        <p:nvSpPr>
          <p:cNvPr id="10" name="Text 8"/>
          <p:cNvSpPr/>
          <p:nvPr/>
        </p:nvSpPr>
        <p:spPr>
          <a:xfrm>
            <a:off x="685800" y="3685032"/>
            <a:ext cx="4937760" cy="246888"/>
          </a:xfrm>
          <a:prstGeom prst="rect">
            <a:avLst/>
          </a:prstGeom>
          <a:noFill/>
          <a:ln/>
        </p:spPr>
        <p:txBody>
          <a:bodyPr wrap="square" lIns="0" tIns="0" rIns="0" bIns="0" rtlCol="0" anchor="ctr"/>
          <a:lstStyle/>
          <a:p>
            <a:pPr indent="0" marL="0">
              <a:buNone/>
            </a:pPr>
            <a:r>
              <a:rPr lang="en-US" sz="950" dirty="0">
                <a:solidFill>
                  <a:srgbClr val="F0F0F0"/>
                </a:solidFill>
                <a:latin typeface="Arial" pitchFamily="34" charset="0"/>
                <a:ea typeface="Arial" pitchFamily="34" charset="-122"/>
                <a:cs typeface="Arial" pitchFamily="34" charset="-120"/>
              </a:rPr>
              <a:t>Used for Amazon S3, in both diagrams</a:t>
            </a:r>
            <a:endParaRPr lang="en-US" sz="950" dirty="0"/>
          </a:p>
        </p:txBody>
      </p:sp>
      <p:sp>
        <p:nvSpPr>
          <p:cNvPr id="11" name="Text 9"/>
          <p:cNvSpPr/>
          <p:nvPr/>
        </p:nvSpPr>
        <p:spPr>
          <a:xfrm>
            <a:off x="685800" y="4041648"/>
            <a:ext cx="4937760" cy="1097280"/>
          </a:xfrm>
          <a:prstGeom prst="rect">
            <a:avLst/>
          </a:prstGeom>
          <a:noFill/>
          <a:ln/>
        </p:spPr>
        <p:txBody>
          <a:bodyPr wrap="square" lIns="0" tIns="0" rIns="0" bIns="0" rtlCol="0" anchor="t"/>
          <a:lstStyle/>
          <a:p>
            <a:pPr indent="0" marL="0">
              <a:lnSpc>
                <a:spcPct val="115000"/>
              </a:lnSpc>
              <a:buNone/>
            </a:pPr>
            <a:r>
              <a:rPr lang="en-US" sz="960" b="1" dirty="0">
                <a:solidFill>
                  <a:srgbClr val="232F3E"/>
                </a:solidFill>
                <a:latin typeface="Arial" pitchFamily="34" charset="0"/>
                <a:ea typeface="Arial" pitchFamily="34" charset="-122"/>
                <a:cs typeface="Arial" pitchFamily="34" charset="-120"/>
              </a:rPr>
              <a:t>How it works: </a:t>
            </a:r>
            <a:pPr indent="0" marL="0">
              <a:lnSpc>
                <a:spcPct val="115000"/>
              </a:lnSpc>
              <a:spcAft>
                <a:spcPts val="800"/>
              </a:spcAft>
              <a:buNone/>
            </a:pPr>
            <a:r>
              <a:rPr lang="en-US" sz="960" dirty="0">
                <a:solidFill>
                  <a:srgbClr val="232F3E"/>
                </a:solidFill>
                <a:latin typeface="Arial" pitchFamily="34" charset="0"/>
                <a:ea typeface="Arial" pitchFamily="34" charset="-122"/>
                <a:cs typeface="Arial" pitchFamily="34" charset="-120"/>
              </a:rPr>
              <a:t>it adds a special entry to the private network's own route table, telling it "traffic addressed to Amazon S3 should go this private way", instead of out through the internet. Think of it as a dedicated private lane added directly onto the network's internal road map, rather than sending traffic onto the public highway.</a:t>
            </a:r>
            <a:endParaRPr lang="en-US" sz="960" dirty="0"/>
          </a:p>
          <a:p>
            <a:pPr indent="0" marL="0">
              <a:lnSpc>
                <a:spcPct val="115000"/>
              </a:lnSpc>
              <a:buNone/>
            </a:pPr>
            <a:r>
              <a:rPr lang="en-US" sz="960" b="1" dirty="0">
                <a:solidFill>
                  <a:srgbClr val="232F3E"/>
                </a:solidFill>
                <a:latin typeface="Arial" pitchFamily="34" charset="0"/>
                <a:ea typeface="Arial" pitchFamily="34" charset="-122"/>
                <a:cs typeface="Arial" pitchFamily="34" charset="-120"/>
              </a:rPr>
              <a:t>Cost: </a:t>
            </a:r>
            <a:pPr indent="0" marL="0">
              <a:lnSpc>
                <a:spcPct val="115000"/>
              </a:lnSpc>
              <a:spcAft>
                <a:spcPts val="800"/>
              </a:spcAft>
              <a:buNone/>
            </a:pPr>
            <a:r>
              <a:rPr lang="en-US" sz="960" dirty="0">
                <a:solidFill>
                  <a:srgbClr val="232F3E"/>
                </a:solidFill>
                <a:latin typeface="Arial" pitchFamily="34" charset="0"/>
                <a:ea typeface="Arial" pitchFamily="34" charset="-122"/>
                <a:cs typeface="Arial" pitchFamily="34" charset="-120"/>
              </a:rPr>
              <a:t>free of charge. Amazon S3 is one of the few AWS services that supports this cheaper endpoint type.</a:t>
            </a:r>
            <a:endParaRPr lang="en-US" sz="960" dirty="0"/>
          </a:p>
        </p:txBody>
      </p:sp>
      <p:sp>
        <p:nvSpPr>
          <p:cNvPr id="12" name="Shape 10"/>
          <p:cNvSpPr/>
          <p:nvPr/>
        </p:nvSpPr>
        <p:spPr>
          <a:xfrm>
            <a:off x="6309360" y="3364992"/>
            <a:ext cx="5394960" cy="1828800"/>
          </a:xfrm>
          <a:prstGeom prst="roundRect">
            <a:avLst>
              <a:gd name="adj" fmla="val 4000"/>
            </a:avLst>
          </a:prstGeom>
          <a:solidFill>
            <a:srgbClr val="F7F8FA"/>
          </a:solidFill>
          <a:ln w="12700">
            <a:solidFill>
              <a:srgbClr val="E2E4E8"/>
            </a:solidFill>
            <a:prstDash val="solid"/>
          </a:ln>
        </p:spPr>
      </p:sp>
      <p:sp>
        <p:nvSpPr>
          <p:cNvPr id="13" name="Shape 11"/>
          <p:cNvSpPr/>
          <p:nvPr/>
        </p:nvSpPr>
        <p:spPr>
          <a:xfrm>
            <a:off x="6309360" y="3364992"/>
            <a:ext cx="5394960" cy="566928"/>
          </a:xfrm>
          <a:prstGeom prst="roundRect">
            <a:avLst>
              <a:gd name="adj" fmla="val 12903"/>
            </a:avLst>
          </a:prstGeom>
          <a:solidFill>
            <a:srgbClr val="B7472A"/>
          </a:solidFill>
          <a:ln w="12700">
            <a:solidFill>
              <a:srgbClr val="B7472A"/>
            </a:solidFill>
            <a:prstDash val="solid"/>
          </a:ln>
        </p:spPr>
      </p:sp>
      <p:sp>
        <p:nvSpPr>
          <p:cNvPr id="14" name="Text 12"/>
          <p:cNvSpPr/>
          <p:nvPr/>
        </p:nvSpPr>
        <p:spPr>
          <a:xfrm>
            <a:off x="6537960" y="3364992"/>
            <a:ext cx="4937760" cy="36576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Interface Endpoint (AWS PrivateLink)</a:t>
            </a:r>
            <a:endParaRPr lang="en-US" sz="1350" dirty="0"/>
          </a:p>
        </p:txBody>
      </p:sp>
      <p:sp>
        <p:nvSpPr>
          <p:cNvPr id="15" name="Text 13"/>
          <p:cNvSpPr/>
          <p:nvPr/>
        </p:nvSpPr>
        <p:spPr>
          <a:xfrm>
            <a:off x="6537960" y="3685032"/>
            <a:ext cx="4937760" cy="246888"/>
          </a:xfrm>
          <a:prstGeom prst="rect">
            <a:avLst/>
          </a:prstGeom>
          <a:noFill/>
          <a:ln/>
        </p:spPr>
        <p:txBody>
          <a:bodyPr wrap="square" lIns="0" tIns="0" rIns="0" bIns="0" rtlCol="0" anchor="ctr"/>
          <a:lstStyle/>
          <a:p>
            <a:pPr indent="0" marL="0">
              <a:buNone/>
            </a:pPr>
            <a:r>
              <a:rPr lang="en-US" sz="950" dirty="0">
                <a:solidFill>
                  <a:srgbClr val="F0F0F0"/>
                </a:solidFill>
                <a:latin typeface="Arial" pitchFamily="34" charset="0"/>
                <a:ea typeface="Arial" pitchFamily="34" charset="-122"/>
                <a:cs typeface="Arial" pitchFamily="34" charset="-120"/>
              </a:rPr>
              <a:t>Used for Amazon Athena and AWS Glue</a:t>
            </a:r>
            <a:endParaRPr lang="en-US" sz="950" dirty="0"/>
          </a:p>
        </p:txBody>
      </p:sp>
      <p:sp>
        <p:nvSpPr>
          <p:cNvPr id="16" name="Text 14"/>
          <p:cNvSpPr/>
          <p:nvPr/>
        </p:nvSpPr>
        <p:spPr>
          <a:xfrm>
            <a:off x="6537960" y="4041648"/>
            <a:ext cx="4937760" cy="1097280"/>
          </a:xfrm>
          <a:prstGeom prst="rect">
            <a:avLst/>
          </a:prstGeom>
          <a:noFill/>
          <a:ln/>
        </p:spPr>
        <p:txBody>
          <a:bodyPr wrap="square" lIns="0" tIns="0" rIns="0" bIns="0" rtlCol="0" anchor="t"/>
          <a:lstStyle/>
          <a:p>
            <a:pPr indent="0" marL="0">
              <a:lnSpc>
                <a:spcPct val="115000"/>
              </a:lnSpc>
              <a:buNone/>
            </a:pPr>
            <a:r>
              <a:rPr lang="en-US" sz="960" b="1" dirty="0">
                <a:solidFill>
                  <a:srgbClr val="232F3E"/>
                </a:solidFill>
                <a:latin typeface="Arial" pitchFamily="34" charset="0"/>
                <a:ea typeface="Arial" pitchFamily="34" charset="-122"/>
                <a:cs typeface="Arial" pitchFamily="34" charset="-120"/>
              </a:rPr>
              <a:t>How it works: </a:t>
            </a:r>
            <a:pPr indent="0" marL="0">
              <a:lnSpc>
                <a:spcPct val="115000"/>
              </a:lnSpc>
              <a:spcAft>
                <a:spcPts val="800"/>
              </a:spcAft>
              <a:buNone/>
            </a:pPr>
            <a:r>
              <a:rPr lang="en-US" sz="960" dirty="0">
                <a:solidFill>
                  <a:srgbClr val="232F3E"/>
                </a:solidFill>
                <a:latin typeface="Arial" pitchFamily="34" charset="0"/>
                <a:ea typeface="Arial" pitchFamily="34" charset="-122"/>
                <a:cs typeface="Arial" pitchFamily="34" charset="-120"/>
              </a:rPr>
              <a:t>it creates an actual private doorway, technically called an elastic network interface, sitting inside HDB's own private subnet with its own private address. When Tableau's Athena driver tries to reach Athena, AWS automatically redirects that request to this private doorway instead of Athena's public address, with no reconfiguration needed on Tableau's side.</a:t>
            </a:r>
            <a:endParaRPr lang="en-US" sz="960" dirty="0"/>
          </a:p>
          <a:p>
            <a:pPr indent="0" marL="0">
              <a:lnSpc>
                <a:spcPct val="115000"/>
              </a:lnSpc>
              <a:buNone/>
            </a:pPr>
            <a:r>
              <a:rPr lang="en-US" sz="960" b="1" dirty="0">
                <a:solidFill>
                  <a:srgbClr val="232F3E"/>
                </a:solidFill>
                <a:latin typeface="Arial" pitchFamily="34" charset="0"/>
                <a:ea typeface="Arial" pitchFamily="34" charset="-122"/>
                <a:cs typeface="Arial" pitchFamily="34" charset="-120"/>
              </a:rPr>
              <a:t>Cost: </a:t>
            </a:r>
            <a:pPr indent="0" marL="0">
              <a:lnSpc>
                <a:spcPct val="115000"/>
              </a:lnSpc>
              <a:spcAft>
                <a:spcPts val="800"/>
              </a:spcAft>
              <a:buNone/>
            </a:pPr>
            <a:r>
              <a:rPr lang="en-US" sz="960" dirty="0">
                <a:solidFill>
                  <a:srgbClr val="232F3E"/>
                </a:solidFill>
                <a:latin typeface="Arial" pitchFamily="34" charset="0"/>
                <a:ea typeface="Arial" pitchFamily="34" charset="-122"/>
                <a:cs typeface="Arial" pitchFamily="34" charset="-120"/>
              </a:rPr>
              <a:t>AWS charges an hourly fee plus a small fee per gigabyte transferred. Most AWS services, including Athena and Glue, only support this type, not the free Gateway type.</a:t>
            </a:r>
            <a:endParaRPr lang="en-US" sz="960" dirty="0"/>
          </a:p>
        </p:txBody>
      </p:sp>
      <p:sp>
        <p:nvSpPr>
          <p:cNvPr id="17" name="Text 15"/>
          <p:cNvSpPr/>
          <p:nvPr/>
        </p:nvSpPr>
        <p:spPr>
          <a:xfrm>
            <a:off x="457200" y="5330952"/>
            <a:ext cx="11247120" cy="274320"/>
          </a:xfrm>
          <a:prstGeom prst="rect">
            <a:avLst/>
          </a:prstGeom>
          <a:noFill/>
          <a:ln/>
        </p:spPr>
        <p:txBody>
          <a:bodyPr wrap="square" lIns="0" tIns="0" rIns="0" bIns="0" rtlCol="0" anchor="ctr"/>
          <a:lstStyle/>
          <a:p>
            <a:pPr indent="0" marL="0">
              <a:buNone/>
            </a:pPr>
            <a:r>
              <a:rPr lang="en-US" sz="1300" b="1" dirty="0">
                <a:solidFill>
                  <a:srgbClr val="232F3E"/>
                </a:solidFill>
                <a:latin typeface="Arial" pitchFamily="34" charset="0"/>
                <a:ea typeface="Arial" pitchFamily="34" charset="-122"/>
                <a:cs typeface="Arial" pitchFamily="34" charset="-120"/>
              </a:rPr>
              <a:t>Why this matters for this assignment</a:t>
            </a:r>
            <a:endParaRPr lang="en-US" sz="1300" dirty="0"/>
          </a:p>
        </p:txBody>
      </p:sp>
      <p:sp>
        <p:nvSpPr>
          <p:cNvPr id="18" name="Text 16"/>
          <p:cNvSpPr/>
          <p:nvPr/>
        </p:nvSpPr>
        <p:spPr>
          <a:xfrm>
            <a:off x="457200" y="5623560"/>
            <a:ext cx="11247120" cy="868680"/>
          </a:xfrm>
          <a:prstGeom prst="rect">
            <a:avLst/>
          </a:prstGeom>
          <a:solidFill>
            <a:srgbClr val="F7F8FA"/>
          </a:solidFill>
          <a:ln w="9525">
            <a:solidFill>
              <a:srgbClr val="E2E4E8"/>
            </a:solidFill>
          </a:ln>
        </p:spPr>
        <p:txBody>
          <a:bodyPr wrap="square" lIns="0" tIns="0" rIns="0" bIns="0" rtlCol="0" anchor="t"/>
          <a:lstStyle/>
          <a:p>
            <a:pPr indent="0" marL="0">
              <a:lnSpc>
                <a:spcPct val="115000"/>
              </a:lnSpc>
              <a:buNone/>
            </a:pPr>
            <a:r>
              <a:rPr lang="en-US" sz="1030" b="1" dirty="0">
                <a:solidFill>
                  <a:srgbClr val="232F3E"/>
                </a:solidFill>
                <a:latin typeface="Arial" pitchFamily="34" charset="0"/>
                <a:ea typeface="Arial" pitchFamily="34" charset="-122"/>
                <a:cs typeface="Arial" pitchFamily="34" charset="-120"/>
              </a:rPr>
              <a:t>Ingestion requirement: </a:t>
            </a:r>
            <a:pPr indent="0" marL="0">
              <a:lnSpc>
                <a:spcPct val="115000"/>
              </a:lnSpc>
              <a:buNone/>
            </a:pPr>
            <a:r>
              <a:rPr lang="en-US" sz="1030" dirty="0">
                <a:solidFill>
                  <a:srgbClr val="232F3E"/>
                </a:solidFill>
                <a:latin typeface="Arial" pitchFamily="34" charset="0"/>
                <a:ea typeface="Arial" pitchFamily="34" charset="-122"/>
                <a:cs typeface="Arial" pitchFamily="34" charset="-120"/>
              </a:rPr>
              <a:t>the assignment states that data.gov.sg is public facing while HDB's platform sits in private VPCs, and asks the design to factor in network segmentation for security. The </a:t>
            </a:r>
            <a:pPr indent="0" marL="0">
              <a:lnSpc>
                <a:spcPct val="115000"/>
              </a:lnSpc>
              <a:buNone/>
            </a:pPr>
            <a:r>
              <a:rPr lang="en-US" sz="1030" b="1" dirty="0">
                <a:solidFill>
                  <a:srgbClr val="1D8102"/>
                </a:solidFill>
                <a:latin typeface="Arial" pitchFamily="34" charset="0"/>
                <a:ea typeface="Arial" pitchFamily="34" charset="-122"/>
                <a:cs typeface="Arial" pitchFamily="34" charset="-120"/>
              </a:rPr>
              <a:t>Gateway Endpoint</a:t>
            </a:r>
            <a:pPr indent="0" marL="0">
              <a:lnSpc>
                <a:spcPct val="115000"/>
              </a:lnSpc>
              <a:spcAft>
                <a:spcPts val="600"/>
              </a:spcAft>
              <a:buNone/>
            </a:pPr>
            <a:r>
              <a:rPr lang="en-US" sz="1030" dirty="0">
                <a:solidFill>
                  <a:srgbClr val="232F3E"/>
                </a:solidFill>
                <a:latin typeface="Arial" pitchFamily="34" charset="0"/>
                <a:ea typeface="Arial" pitchFamily="34" charset="-122"/>
                <a:cs typeface="Arial" pitchFamily="34" charset="-120"/>
              </a:rPr>
              <a:t> for S3 answers this directly: it lets the private network reach storage without opening any doorway for the public internet to reach back in.</a:t>
            </a:r>
            <a:endParaRPr lang="en-US" sz="1030" dirty="0"/>
          </a:p>
          <a:p>
            <a:pPr indent="0" marL="0">
              <a:lnSpc>
                <a:spcPct val="115000"/>
              </a:lnSpc>
              <a:buNone/>
            </a:pPr>
            <a:r>
              <a:rPr lang="en-US" sz="1030" b="1" dirty="0">
                <a:solidFill>
                  <a:srgbClr val="232F3E"/>
                </a:solidFill>
                <a:latin typeface="Arial" pitchFamily="34" charset="0"/>
                <a:ea typeface="Arial" pitchFamily="34" charset="-122"/>
                <a:cs typeface="Arial" pitchFamily="34" charset="-120"/>
              </a:rPr>
              <a:t>Exploitation requirement: </a:t>
            </a:r>
            <a:pPr indent="0" marL="0">
              <a:lnSpc>
                <a:spcPct val="115000"/>
              </a:lnSpc>
              <a:buNone/>
            </a:pPr>
            <a:r>
              <a:rPr lang="en-US" sz="1030" dirty="0">
                <a:solidFill>
                  <a:srgbClr val="232F3E"/>
                </a:solidFill>
                <a:latin typeface="Arial" pitchFamily="34" charset="0"/>
                <a:ea typeface="Arial" pitchFamily="34" charset="-122"/>
                <a:cs typeface="Arial" pitchFamily="34" charset="-120"/>
              </a:rPr>
              <a:t>the assignment separately states that the Athena driver normally calls Athena's public endpoint, and asks the design to make that traffic private where possible. The </a:t>
            </a:r>
            <a:pPr indent="0" marL="0">
              <a:lnSpc>
                <a:spcPct val="115000"/>
              </a:lnSpc>
              <a:buNone/>
            </a:pPr>
            <a:r>
              <a:rPr lang="en-US" sz="1030" b="1" dirty="0">
                <a:solidFill>
                  <a:srgbClr val="B7472A"/>
                </a:solidFill>
                <a:latin typeface="Arial" pitchFamily="34" charset="0"/>
                <a:ea typeface="Arial" pitchFamily="34" charset="-122"/>
                <a:cs typeface="Arial" pitchFamily="34" charset="-120"/>
              </a:rPr>
              <a:t>Interface Endpoint (PrivateLink)</a:t>
            </a:r>
            <a:pPr indent="0" marL="0">
              <a:lnSpc>
                <a:spcPct val="115000"/>
              </a:lnSpc>
              <a:buNone/>
            </a:pPr>
            <a:r>
              <a:rPr lang="en-US" sz="1030" dirty="0">
                <a:solidFill>
                  <a:srgbClr val="232F3E"/>
                </a:solidFill>
                <a:latin typeface="Arial" pitchFamily="34" charset="0"/>
                <a:ea typeface="Arial" pitchFamily="34" charset="-122"/>
                <a:cs typeface="Arial" pitchFamily="34" charset="-120"/>
              </a:rPr>
              <a:t> for Athena and Glue answers this directly: it replaces the public endpoint entirely, so the driver's queries never touch the public internet at all.</a:t>
            </a:r>
            <a:endParaRPr lang="en-US" sz="1030" dirty="0"/>
          </a:p>
        </p:txBody>
      </p:sp>
      <p:sp>
        <p:nvSpPr>
          <p:cNvPr id="19" name="Text 17"/>
          <p:cNvSpPr/>
          <p:nvPr/>
        </p:nvSpPr>
        <p:spPr>
          <a:xfrm>
            <a:off x="11658600" y="6492240"/>
            <a:ext cx="457200" cy="274320"/>
          </a:xfrm>
          <a:prstGeom prst="rect">
            <a:avLst/>
          </a:prstGeom>
          <a:noFill/>
          <a:ln/>
        </p:spPr>
        <p:txBody>
          <a:bodyPr wrap="square" lIns="0" tIns="0" rIns="0" bIns="0" rtlCol="0" anchor="ctr"/>
          <a:lstStyle/>
          <a:p>
            <a:pPr algn="r" indent="0" marL="0">
              <a:buNone/>
            </a:pPr>
            <a:r>
              <a:rPr lang="en-US" sz="1000" dirty="0">
                <a:solidFill>
                  <a:srgbClr val="545B64"/>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lIns="0" tIns="0" rIns="0" bIns="0" rtlCol="0" anchor="ctr"/>
          <a:lstStyle/>
          <a:p>
            <a:pPr indent="0" marL="0">
              <a:buNone/>
            </a:pPr>
            <a:r>
              <a:rPr lang="en-US" sz="2500" b="1" dirty="0">
                <a:solidFill>
                  <a:srgbClr val="232F3E"/>
                </a:solidFill>
                <a:latin typeface="Arial" pitchFamily="34" charset="0"/>
                <a:ea typeface="Arial" pitchFamily="34" charset="-122"/>
                <a:cs typeface="Arial" pitchFamily="34" charset="-120"/>
              </a:rPr>
              <a:t>Data Ingestion Architecture</a:t>
            </a:r>
            <a:endParaRPr lang="en-US" sz="2500" dirty="0"/>
          </a:p>
        </p:txBody>
      </p:sp>
      <p:sp>
        <p:nvSpPr>
          <p:cNvPr id="3" name="Text 1"/>
          <p:cNvSpPr/>
          <p:nvPr/>
        </p:nvSpPr>
        <p:spPr>
          <a:xfrm>
            <a:off x="457200" y="749808"/>
            <a:ext cx="11247120" cy="320040"/>
          </a:xfrm>
          <a:prstGeom prst="rect">
            <a:avLst/>
          </a:prstGeom>
          <a:noFill/>
          <a:ln/>
        </p:spPr>
        <p:txBody>
          <a:bodyPr wrap="square" lIns="0" tIns="0" rIns="0" bIns="0" rtlCol="0" anchor="ctr"/>
          <a:lstStyle/>
          <a:p>
            <a:pPr indent="0" marL="0">
              <a:buNone/>
            </a:pPr>
            <a:r>
              <a:rPr lang="en-US" sz="1250" dirty="0">
                <a:solidFill>
                  <a:srgbClr val="545B64"/>
                </a:solidFill>
                <a:latin typeface="Arial" pitchFamily="34" charset="0"/>
                <a:ea typeface="Arial" pitchFamily="34" charset="-122"/>
                <a:cs typeface="Arial" pitchFamily="34" charset="-120"/>
              </a:rPr>
              <a:t>data.gov.sg (public) to S3 (private VPC) using the AWS icon pack</a:t>
            </a:r>
            <a:endParaRPr lang="en-US" sz="1250" dirty="0"/>
          </a:p>
        </p:txBody>
      </p:sp>
      <p:pic>
        <p:nvPicPr>
          <p:cNvPr id="4" name="Image 0" descr="/home/claude/resale_flat_etl/architecture/01_ingestion_pattern.png">    </p:cNvPr>
          <p:cNvPicPr>
            <a:picLocks noChangeAspect="1"/>
          </p:cNvPicPr>
          <p:nvPr/>
        </p:nvPicPr>
        <p:blipFill>
          <a:blip r:embed="rId1"/>
          <a:srcRect l="0" r="0" t="0" b="0"/>
          <a:stretch/>
        </p:blipFill>
        <p:spPr>
          <a:xfrm>
            <a:off x="2816352" y="1051560"/>
            <a:ext cx="6528816" cy="3657600"/>
          </a:xfrm>
          <a:prstGeom prst="rect">
            <a:avLst/>
          </a:prstGeom>
        </p:spPr>
      </p:pic>
      <p:sp>
        <p:nvSpPr>
          <p:cNvPr id="5" name="Text 2"/>
          <p:cNvSpPr/>
          <p:nvPr/>
        </p:nvSpPr>
        <p:spPr>
          <a:xfrm>
            <a:off x="457200" y="4800600"/>
            <a:ext cx="11247120" cy="256032"/>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The Story, Step by Step</a:t>
            </a:r>
            <a:endParaRPr lang="en-US" sz="1350" dirty="0"/>
          </a:p>
        </p:txBody>
      </p:sp>
      <p:sp>
        <p:nvSpPr>
          <p:cNvPr id="6" name="Text 3"/>
          <p:cNvSpPr/>
          <p:nvPr/>
        </p:nvSpPr>
        <p:spPr>
          <a:xfrm>
            <a:off x="457200" y="5102352"/>
            <a:ext cx="5394960" cy="1325880"/>
          </a:xfrm>
          <a:prstGeom prst="rect">
            <a:avLst/>
          </a:prstGeom>
          <a:noFill/>
          <a:ln/>
        </p:spPr>
        <p:txBody>
          <a:bodyPr wrap="square" lIns="0" tIns="0" rIns="0" bIns="0" rtlCol="0" anchor="t"/>
          <a:lstStyle/>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1:  </a:t>
            </a:r>
            <a:pPr indent="0" marL="0">
              <a:lnSpc>
                <a:spcPct val="120000"/>
              </a:lnSpc>
              <a:buNone/>
            </a:pPr>
            <a:r>
              <a:rPr lang="en-US" sz="960" dirty="0">
                <a:solidFill>
                  <a:srgbClr val="232F3E"/>
                </a:solidFill>
                <a:latin typeface="Arial" pitchFamily="34" charset="0"/>
                <a:ea typeface="Arial" pitchFamily="34" charset="-122"/>
                <a:cs typeface="Arial" pitchFamily="34" charset="-120"/>
              </a:rPr>
              <a:t>A schedule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EventBridge Scheduler</a:t>
            </a:r>
            <a:pPr indent="0" marL="0">
              <a:lnSpc>
                <a:spcPct val="120000"/>
              </a:lnSpc>
              <a:buNone/>
            </a:pPr>
            <a:r>
              <a:rPr lang="en-US" sz="960" dirty="0">
                <a:solidFill>
                  <a:srgbClr val="232F3E"/>
                </a:solidFill>
                <a:latin typeface="Arial" pitchFamily="34" charset="0"/>
                <a:ea typeface="Arial" pitchFamily="34" charset="-122"/>
                <a:cs typeface="Arial" pitchFamily="34" charset="-120"/>
              </a:rPr>
              <a:t>) wakes up automatically, for example once a month, and tells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Step Functions</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 to start the job.</a:t>
            </a:r>
            <a:endParaRPr lang="en-US" sz="960" dirty="0"/>
          </a:p>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2:  </a:t>
            </a:r>
            <a:pPr indent="0" marL="0">
              <a:lnSpc>
                <a:spcPct val="120000"/>
              </a:lnSpc>
              <a:buNone/>
            </a:pPr>
            <a:r>
              <a:rPr lang="en-US" sz="960" dirty="0">
                <a:solidFill>
                  <a:srgbClr val="232F3E"/>
                </a:solidFill>
                <a:latin typeface="Arial" pitchFamily="34" charset="0"/>
                <a:ea typeface="Arial" pitchFamily="34" charset="-122"/>
                <a:cs typeface="Arial" pitchFamily="34" charset="-120"/>
              </a:rPr>
              <a:t>Step Functions starts a temporary task using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AWS Fargate</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 This task only exists for as long as it takes to finish the job, then it shuts down.</a:t>
            </a:r>
            <a:endParaRPr lang="en-US" sz="960" dirty="0"/>
          </a:p>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3:  </a:t>
            </a:r>
            <a:pPr indent="0" marL="0">
              <a:lnSpc>
                <a:spcPct val="120000"/>
              </a:lnSpc>
              <a:buNone/>
            </a:pPr>
            <a:r>
              <a:rPr lang="en-US" sz="960" dirty="0">
                <a:solidFill>
                  <a:srgbClr val="232F3E"/>
                </a:solidFill>
                <a:latin typeface="Arial" pitchFamily="34" charset="0"/>
                <a:ea typeface="Arial" pitchFamily="34" charset="-122"/>
                <a:cs typeface="Arial" pitchFamily="34" charset="-120"/>
              </a:rPr>
              <a:t>The Fargate task reaches out to the </a:t>
            </a:r>
            <a:pPr indent="0" marL="0">
              <a:lnSpc>
                <a:spcPct val="120000"/>
              </a:lnSpc>
              <a:buNone/>
            </a:pPr>
            <a:r>
              <a:rPr lang="en-US" sz="960" b="1" dirty="0">
                <a:solidFill>
                  <a:srgbClr val="B7472A"/>
                </a:solidFill>
                <a:latin typeface="Arial" pitchFamily="34" charset="0"/>
                <a:ea typeface="Arial" pitchFamily="34" charset="-122"/>
                <a:cs typeface="Arial" pitchFamily="34" charset="-120"/>
              </a:rPr>
              <a:t>public internet</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 to download the file from data.gov.sg. This is the only moment in the whole process that touches the public internet.</a:t>
            </a:r>
            <a:endParaRPr lang="en-US" sz="960" dirty="0"/>
          </a:p>
        </p:txBody>
      </p:sp>
      <p:sp>
        <p:nvSpPr>
          <p:cNvPr id="7" name="Text 4"/>
          <p:cNvSpPr/>
          <p:nvPr/>
        </p:nvSpPr>
        <p:spPr>
          <a:xfrm>
            <a:off x="6309360" y="5102352"/>
            <a:ext cx="5394960" cy="1325880"/>
          </a:xfrm>
          <a:prstGeom prst="rect">
            <a:avLst/>
          </a:prstGeom>
          <a:noFill/>
          <a:ln/>
        </p:spPr>
        <p:txBody>
          <a:bodyPr wrap="square" lIns="0" tIns="0" rIns="0" bIns="0" rtlCol="0" anchor="t"/>
          <a:lstStyle/>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4:  </a:t>
            </a:r>
            <a:pPr indent="0" marL="0">
              <a:lnSpc>
                <a:spcPct val="120000"/>
              </a:lnSpc>
              <a:buNone/>
            </a:pPr>
            <a:r>
              <a:rPr lang="en-US" sz="960" dirty="0">
                <a:solidFill>
                  <a:srgbClr val="232F3E"/>
                </a:solidFill>
                <a:latin typeface="Arial" pitchFamily="34" charset="0"/>
                <a:ea typeface="Arial" pitchFamily="34" charset="-122"/>
                <a:cs typeface="Arial" pitchFamily="34" charset="-120"/>
              </a:rPr>
              <a:t>The download happens through a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NAT Gateway</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 a one way door. It lets our task reach out, but nothing from the internet can ever come back in through it.</a:t>
            </a:r>
            <a:endParaRPr lang="en-US" sz="960" dirty="0"/>
          </a:p>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5:  </a:t>
            </a:r>
            <a:pPr indent="0" marL="0">
              <a:lnSpc>
                <a:spcPct val="120000"/>
              </a:lnSpc>
              <a:buNone/>
            </a:pPr>
            <a:r>
              <a:rPr lang="en-US" sz="960" dirty="0">
                <a:solidFill>
                  <a:srgbClr val="232F3E"/>
                </a:solidFill>
                <a:latin typeface="Arial" pitchFamily="34" charset="0"/>
                <a:ea typeface="Arial" pitchFamily="34" charset="-122"/>
                <a:cs typeface="Arial" pitchFamily="34" charset="-120"/>
              </a:rPr>
              <a:t>The task saves the file into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Amazon S3</a:t>
            </a:r>
            <a:pPr indent="0" marL="0">
              <a:lnSpc>
                <a:spcPct val="120000"/>
              </a:lnSpc>
              <a:buNone/>
            </a:pPr>
            <a:r>
              <a:rPr lang="en-US" sz="960" dirty="0">
                <a:solidFill>
                  <a:srgbClr val="232F3E"/>
                </a:solidFill>
                <a:latin typeface="Arial" pitchFamily="34" charset="0"/>
                <a:ea typeface="Arial" pitchFamily="34" charset="-122"/>
                <a:cs typeface="Arial" pitchFamily="34" charset="-120"/>
              </a:rPr>
              <a:t> using a </a:t>
            </a:r>
            <a:pPr indent="0" marL="0">
              <a:lnSpc>
                <a:spcPct val="120000"/>
              </a:lnSpc>
              <a:buNone/>
            </a:pPr>
            <a:r>
              <a:rPr lang="en-US" sz="960" b="1" dirty="0">
                <a:solidFill>
                  <a:srgbClr val="1D8102"/>
                </a:solidFill>
                <a:latin typeface="Arial" pitchFamily="34" charset="0"/>
                <a:ea typeface="Arial" pitchFamily="34" charset="-122"/>
                <a:cs typeface="Arial" pitchFamily="34" charset="-120"/>
              </a:rPr>
              <a:t>private</a:t>
            </a:r>
            <a:pPr indent="0" marL="0">
              <a:lnSpc>
                <a:spcPct val="120000"/>
              </a:lnSpc>
              <a:buNone/>
            </a:pPr>
            <a:r>
              <a:rPr lang="en-US" sz="960" dirty="0">
                <a:solidFill>
                  <a:srgbClr val="232F3E"/>
                </a:solidFill>
                <a:latin typeface="Arial" pitchFamily="34" charset="0"/>
                <a:ea typeface="Arial" pitchFamily="34" charset="-122"/>
                <a:cs typeface="Arial" pitchFamily="34" charset="-120"/>
              </a:rPr>
              <a:t> shortcut (a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VPC Gateway Endpoint</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 so the upload itself never touches the public internet.</a:t>
            </a:r>
            <a:endParaRPr lang="en-US" sz="960" dirty="0"/>
          </a:p>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6:  </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If the file is larger than 100MB, it is automatically uploaded in smaller pieces, so a brief connection hiccup does not ruin the whole file.</a:t>
            </a:r>
            <a:endParaRPr lang="en-US" sz="960" dirty="0"/>
          </a:p>
        </p:txBody>
      </p:sp>
      <p:sp>
        <p:nvSpPr>
          <p:cNvPr id="8" name="Text 5"/>
          <p:cNvSpPr/>
          <p:nvPr/>
        </p:nvSpPr>
        <p:spPr>
          <a:xfrm>
            <a:off x="11658600" y="6492240"/>
            <a:ext cx="457200" cy="274320"/>
          </a:xfrm>
          <a:prstGeom prst="rect">
            <a:avLst/>
          </a:prstGeom>
          <a:noFill/>
          <a:ln/>
        </p:spPr>
        <p:txBody>
          <a:bodyPr wrap="square" lIns="0" tIns="0" rIns="0" bIns="0" rtlCol="0" anchor="ctr"/>
          <a:lstStyle/>
          <a:p>
            <a:pPr algn="r" indent="0" marL="0">
              <a:buNone/>
            </a:pPr>
            <a:r>
              <a:rPr lang="en-US" sz="1000" dirty="0">
                <a:solidFill>
                  <a:srgbClr val="545B64"/>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lIns="0" tIns="0" rIns="0" bIns="0" rtlCol="0" anchor="ctr"/>
          <a:lstStyle/>
          <a:p>
            <a:pPr indent="0" marL="0">
              <a:buNone/>
            </a:pPr>
            <a:r>
              <a:rPr lang="en-US" sz="2500" b="1" dirty="0">
                <a:solidFill>
                  <a:srgbClr val="232F3E"/>
                </a:solidFill>
                <a:latin typeface="Arial" pitchFamily="34" charset="0"/>
                <a:ea typeface="Arial" pitchFamily="34" charset="-122"/>
                <a:cs typeface="Arial" pitchFamily="34" charset="-120"/>
              </a:rPr>
              <a:t>Ingestion: Security, Scalability &amp; Performance</a:t>
            </a:r>
            <a:endParaRPr lang="en-US" sz="2500" dirty="0"/>
          </a:p>
        </p:txBody>
      </p:sp>
      <p:sp>
        <p:nvSpPr>
          <p:cNvPr id="3" name="Text 1"/>
          <p:cNvSpPr/>
          <p:nvPr/>
        </p:nvSpPr>
        <p:spPr>
          <a:xfrm>
            <a:off x="457200" y="1051560"/>
            <a:ext cx="11247120" cy="777240"/>
          </a:xfrm>
          <a:prstGeom prst="rect">
            <a:avLst/>
          </a:prstGeom>
          <a:solidFill>
            <a:srgbClr val="F7F8FA"/>
          </a:solidFill>
          <a:ln w="9525">
            <a:solidFill>
              <a:srgbClr val="E2E4E8"/>
            </a:solidFill>
          </a:ln>
        </p:spPr>
        <p:txBody>
          <a:bodyPr wrap="square" lIns="0" tIns="0" rIns="0" bIns="0" rtlCol="0" anchor="t"/>
          <a:lstStyle/>
          <a:p>
            <a:pPr indent="0" marL="0">
              <a:lnSpc>
                <a:spcPct val="115000"/>
              </a:lnSpc>
              <a:buNone/>
            </a:pPr>
            <a:r>
              <a:rPr lang="en-US" sz="1250" dirty="0">
                <a:solidFill>
                  <a:srgbClr val="232F3E"/>
                </a:solidFill>
                <a:latin typeface="Arial" pitchFamily="34" charset="0"/>
                <a:ea typeface="Arial" pitchFamily="34" charset="-122"/>
                <a:cs typeface="Arial" pitchFamily="34" charset="-120"/>
              </a:rPr>
              <a:t>Security is about keeping the system safe from outside threats. Scalability is about coping well if the amount of data grows. Performance is about making sure the process stays fast and reliable. Each column below explains how the ingestion design addresses one of these three concerns.</a:t>
            </a:r>
            <a:endParaRPr lang="en-US" sz="1250" dirty="0"/>
          </a:p>
        </p:txBody>
      </p:sp>
      <p:sp>
        <p:nvSpPr>
          <p:cNvPr id="4" name="Shape 2"/>
          <p:cNvSpPr/>
          <p:nvPr/>
        </p:nvSpPr>
        <p:spPr>
          <a:xfrm>
            <a:off x="457200" y="1965960"/>
            <a:ext cx="3630168" cy="4526280"/>
          </a:xfrm>
          <a:prstGeom prst="roundRect">
            <a:avLst>
              <a:gd name="adj" fmla="val 2015"/>
            </a:avLst>
          </a:prstGeom>
          <a:solidFill>
            <a:srgbClr val="FFFFFF">
              <a:alpha val="95000"/>
            </a:srgbClr>
          </a:solidFill>
          <a:ln w="12700">
            <a:solidFill>
              <a:srgbClr val="E2E4E8"/>
            </a:solidFill>
            <a:prstDash val="solid"/>
          </a:ln>
        </p:spPr>
      </p:sp>
      <p:sp>
        <p:nvSpPr>
          <p:cNvPr id="5" name="Shape 3"/>
          <p:cNvSpPr/>
          <p:nvPr/>
        </p:nvSpPr>
        <p:spPr>
          <a:xfrm>
            <a:off x="457200" y="1965960"/>
            <a:ext cx="3630168" cy="548640"/>
          </a:xfrm>
          <a:prstGeom prst="roundRect">
            <a:avLst>
              <a:gd name="adj" fmla="val 13333"/>
            </a:avLst>
          </a:prstGeom>
          <a:solidFill>
            <a:srgbClr val="B7472A"/>
          </a:solidFill>
          <a:ln w="12700">
            <a:solidFill>
              <a:srgbClr val="B7472A"/>
            </a:solidFill>
            <a:prstDash val="solid"/>
          </a:ln>
        </p:spPr>
      </p:sp>
      <p:sp>
        <p:nvSpPr>
          <p:cNvPr id="6" name="Text 4"/>
          <p:cNvSpPr/>
          <p:nvPr/>
        </p:nvSpPr>
        <p:spPr>
          <a:xfrm>
            <a:off x="685800" y="1965960"/>
            <a:ext cx="3172968"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Security</a:t>
            </a:r>
            <a:endParaRPr lang="en-US" sz="1500" dirty="0"/>
          </a:p>
        </p:txBody>
      </p:sp>
      <p:sp>
        <p:nvSpPr>
          <p:cNvPr id="7" name="Text 5"/>
          <p:cNvSpPr/>
          <p:nvPr/>
        </p:nvSpPr>
        <p:spPr>
          <a:xfrm>
            <a:off x="731520" y="2651760"/>
            <a:ext cx="3081528" cy="3886200"/>
          </a:xfrm>
          <a:prstGeom prst="rect">
            <a:avLst/>
          </a:prstGeom>
          <a:noFill/>
          <a:ln/>
        </p:spPr>
        <p:txBody>
          <a:bodyPr wrap="square" lIns="0" tIns="0" rIns="0" bIns="0" rtlCol="0" anchor="t"/>
          <a:lstStyle/>
          <a:p>
            <a:pPr marL="177800" indent="-177800">
              <a:spcAft>
                <a:spcPts val="1000"/>
              </a:spcAft>
              <a:buSzPct val="100000"/>
              <a:buChar char="•"/>
            </a:pPr>
            <a:r>
              <a:rPr lang="en-US" sz="980" dirty="0">
                <a:solidFill>
                  <a:srgbClr val="232F3E"/>
                </a:solidFill>
                <a:latin typeface="Arial" pitchFamily="34" charset="0"/>
                <a:ea typeface="Arial" pitchFamily="34" charset="-122"/>
                <a:cs typeface="Arial" pitchFamily="34" charset="-120"/>
              </a:rPr>
              <a:t>The download task lives in a private subnet and is never given a public IP address</a:t>
            </a:r>
            <a:endParaRPr lang="en-US" sz="980" dirty="0"/>
          </a:p>
          <a:p>
            <a:pPr marL="177800" indent="-177800">
              <a:spcAft>
                <a:spcPts val="1000"/>
              </a:spcAft>
              <a:buSzPct val="100000"/>
              <a:buChar char="•"/>
            </a:pPr>
            <a:r>
              <a:rPr lang="en-US" sz="980" dirty="0">
                <a:solidFill>
                  <a:srgbClr val="232F3E"/>
                </a:solidFill>
                <a:latin typeface="Arial" pitchFamily="34" charset="0"/>
                <a:ea typeface="Arial" pitchFamily="34" charset="-122"/>
                <a:cs typeface="Arial" pitchFamily="34" charset="-120"/>
              </a:rPr>
              <a:t>The NAT Gateway only allows traffic to leave; nothing from outside can use it to get in</a:t>
            </a:r>
            <a:endParaRPr lang="en-US" sz="980" dirty="0"/>
          </a:p>
          <a:p>
            <a:pPr marL="177800" indent="-177800">
              <a:spcAft>
                <a:spcPts val="1000"/>
              </a:spcAft>
              <a:buSzPct val="100000"/>
              <a:buChar char="•"/>
            </a:pPr>
            <a:r>
              <a:rPr lang="en-US" sz="980" dirty="0">
                <a:solidFill>
                  <a:srgbClr val="232F3E"/>
                </a:solidFill>
                <a:latin typeface="Arial" pitchFamily="34" charset="0"/>
                <a:ea typeface="Arial" pitchFamily="34" charset="-122"/>
                <a:cs typeface="Arial" pitchFamily="34" charset="-120"/>
              </a:rPr>
              <a:t>The storage bucket only accepts connections coming through our private endpoint, and requires an encrypted (TLS) connection</a:t>
            </a:r>
            <a:endParaRPr lang="en-US" sz="980" dirty="0"/>
          </a:p>
          <a:p>
            <a:pPr marL="177800" indent="-177800">
              <a:spcAft>
                <a:spcPts val="1000"/>
              </a:spcAft>
              <a:buSzPct val="100000"/>
              <a:buChar char="•"/>
            </a:pPr>
            <a:r>
              <a:rPr lang="en-US" sz="980" dirty="0">
                <a:solidFill>
                  <a:srgbClr val="232F3E"/>
                </a:solidFill>
                <a:latin typeface="Arial" pitchFamily="34" charset="0"/>
                <a:ea typeface="Arial" pitchFamily="34" charset="-122"/>
                <a:cs typeface="Arial" pitchFamily="34" charset="-120"/>
              </a:rPr>
              <a:t>Stored files are encrypted at rest, and public access to the bucket is completely blocked</a:t>
            </a:r>
            <a:endParaRPr lang="en-US" sz="980" dirty="0"/>
          </a:p>
          <a:p>
            <a:pPr marL="177800" indent="-177800">
              <a:spcAft>
                <a:spcPts val="1000"/>
              </a:spcAft>
              <a:buSzPct val="100000"/>
              <a:buChar char="•"/>
            </a:pPr>
            <a:r>
              <a:rPr lang="en-US" sz="980" dirty="0">
                <a:solidFill>
                  <a:srgbClr val="232F3E"/>
                </a:solidFill>
                <a:latin typeface="Arial" pitchFamily="34" charset="0"/>
                <a:ea typeface="Arial" pitchFamily="34" charset="-122"/>
                <a:cs typeface="Arial" pitchFamily="34" charset="-120"/>
              </a:rPr>
              <a:t>The download task can only perform the one action it needs (saving files), nothing more</a:t>
            </a:r>
            <a:endParaRPr lang="en-US" sz="980" dirty="0"/>
          </a:p>
          <a:p>
            <a:pPr marL="177800" indent="-177800">
              <a:spcAft>
                <a:spcPts val="1000"/>
              </a:spcAft>
              <a:buSzPct val="100000"/>
              <a:buChar char="•"/>
            </a:pPr>
            <a:r>
              <a:rPr lang="en-US" sz="980" dirty="0">
                <a:solidFill>
                  <a:srgbClr val="232F3E"/>
                </a:solidFill>
                <a:latin typeface="Arial" pitchFamily="34" charset="0"/>
                <a:ea typeface="Arial" pitchFamily="34" charset="-122"/>
                <a:cs typeface="Arial" pitchFamily="34" charset="-120"/>
              </a:rPr>
              <a:t>Every action is logged (CloudTrail) and all network activity is recorded (VPC Flow Logs) for later review</a:t>
            </a:r>
            <a:endParaRPr lang="en-US" sz="980" dirty="0"/>
          </a:p>
        </p:txBody>
      </p:sp>
      <p:sp>
        <p:nvSpPr>
          <p:cNvPr id="8" name="Shape 6"/>
          <p:cNvSpPr/>
          <p:nvPr/>
        </p:nvSpPr>
        <p:spPr>
          <a:xfrm>
            <a:off x="4270248" y="1965960"/>
            <a:ext cx="3630168" cy="4526280"/>
          </a:xfrm>
          <a:prstGeom prst="roundRect">
            <a:avLst>
              <a:gd name="adj" fmla="val 2015"/>
            </a:avLst>
          </a:prstGeom>
          <a:solidFill>
            <a:srgbClr val="FFFFFF">
              <a:alpha val="95000"/>
            </a:srgbClr>
          </a:solidFill>
          <a:ln w="12700">
            <a:solidFill>
              <a:srgbClr val="E2E4E8"/>
            </a:solidFill>
            <a:prstDash val="solid"/>
          </a:ln>
        </p:spPr>
      </p:sp>
      <p:sp>
        <p:nvSpPr>
          <p:cNvPr id="9" name="Shape 7"/>
          <p:cNvSpPr/>
          <p:nvPr/>
        </p:nvSpPr>
        <p:spPr>
          <a:xfrm>
            <a:off x="4270248" y="1965960"/>
            <a:ext cx="3630168" cy="548640"/>
          </a:xfrm>
          <a:prstGeom prst="roundRect">
            <a:avLst>
              <a:gd name="adj" fmla="val 13333"/>
            </a:avLst>
          </a:prstGeom>
          <a:solidFill>
            <a:srgbClr val="232F3E"/>
          </a:solidFill>
          <a:ln w="12700">
            <a:solidFill>
              <a:srgbClr val="232F3E"/>
            </a:solidFill>
            <a:prstDash val="solid"/>
          </a:ln>
        </p:spPr>
      </p:sp>
      <p:sp>
        <p:nvSpPr>
          <p:cNvPr id="10" name="Text 8"/>
          <p:cNvSpPr/>
          <p:nvPr/>
        </p:nvSpPr>
        <p:spPr>
          <a:xfrm>
            <a:off x="4498848" y="1965960"/>
            <a:ext cx="3172968"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Scalability</a:t>
            </a:r>
            <a:endParaRPr lang="en-US" sz="1500" dirty="0"/>
          </a:p>
        </p:txBody>
      </p:sp>
      <p:sp>
        <p:nvSpPr>
          <p:cNvPr id="11" name="Text 9"/>
          <p:cNvSpPr/>
          <p:nvPr/>
        </p:nvSpPr>
        <p:spPr>
          <a:xfrm>
            <a:off x="4544568" y="2651760"/>
            <a:ext cx="3081528" cy="3886200"/>
          </a:xfrm>
          <a:prstGeom prst="rect">
            <a:avLst/>
          </a:prstGeom>
          <a:noFill/>
          <a:ln/>
        </p:spPr>
        <p:txBody>
          <a:bodyPr wrap="square" lIns="0" tIns="0" rIns="0" bIns="0" rtlCol="0" anchor="t"/>
          <a:lstStyle/>
          <a:p>
            <a:pPr marL="177800" indent="-177800">
              <a:spcAft>
                <a:spcPts val="1000"/>
              </a:spcAft>
              <a:buSzPct val="100000"/>
              <a:buChar char="•"/>
            </a:pPr>
            <a:r>
              <a:rPr lang="en-US" sz="980" dirty="0">
                <a:solidFill>
                  <a:srgbClr val="232F3E"/>
                </a:solidFill>
                <a:latin typeface="Arial" pitchFamily="34" charset="0"/>
                <a:ea typeface="Arial" pitchFamily="34" charset="-122"/>
                <a:cs typeface="Arial" pitchFamily="34" charset="-120"/>
              </a:rPr>
              <a:t>Fargate automatically sizes the compute needed for each run. There is no server to plan for ahead of time</a:t>
            </a:r>
            <a:endParaRPr lang="en-US" sz="980" dirty="0"/>
          </a:p>
          <a:p>
            <a:pPr marL="177800" indent="-177800">
              <a:spcAft>
                <a:spcPts val="1000"/>
              </a:spcAft>
              <a:buSzPct val="100000"/>
              <a:buChar char="•"/>
            </a:pPr>
            <a:r>
              <a:rPr lang="en-US" sz="980" dirty="0">
                <a:solidFill>
                  <a:srgbClr val="232F3E"/>
                </a:solidFill>
                <a:latin typeface="Arial" pitchFamily="34" charset="0"/>
                <a:ea typeface="Arial" pitchFamily="34" charset="-122"/>
                <a:cs typeface="Arial" pitchFamily="34" charset="-120"/>
              </a:rPr>
              <a:t>Step Functions can run several file downloads at the same time if needed, without any redesign</a:t>
            </a:r>
            <a:endParaRPr lang="en-US" sz="980" dirty="0"/>
          </a:p>
          <a:p>
            <a:pPr marL="177800" indent="-177800">
              <a:spcAft>
                <a:spcPts val="1000"/>
              </a:spcAft>
              <a:buSzPct val="100000"/>
              <a:buChar char="•"/>
            </a:pPr>
            <a:r>
              <a:rPr lang="en-US" sz="980" dirty="0">
                <a:solidFill>
                  <a:srgbClr val="232F3E"/>
                </a:solidFill>
                <a:latin typeface="Arial" pitchFamily="34" charset="0"/>
                <a:ea typeface="Arial" pitchFamily="34" charset="-122"/>
                <a:cs typeface="Arial" pitchFamily="34" charset="-120"/>
              </a:rPr>
              <a:t>The scheduler and the actual work are kept separate, so adding more scheduled jobs later is simple</a:t>
            </a:r>
            <a:endParaRPr lang="en-US" sz="980" dirty="0"/>
          </a:p>
          <a:p>
            <a:pPr marL="177800" indent="-177800">
              <a:spcAft>
                <a:spcPts val="1000"/>
              </a:spcAft>
              <a:buSzPct val="100000"/>
              <a:buChar char="•"/>
            </a:pPr>
            <a:r>
              <a:rPr lang="en-US" sz="980" dirty="0">
                <a:solidFill>
                  <a:srgbClr val="232F3E"/>
                </a:solidFill>
                <a:latin typeface="Arial" pitchFamily="34" charset="0"/>
                <a:ea typeface="Arial" pitchFamily="34" charset="-122"/>
                <a:cs typeface="Arial" pitchFamily="34" charset="-120"/>
              </a:rPr>
              <a:t>Cataloguing new data (Glue Crawler) runs independently and does not slow down ingestion</a:t>
            </a:r>
            <a:endParaRPr lang="en-US" sz="980" dirty="0"/>
          </a:p>
        </p:txBody>
      </p:sp>
      <p:sp>
        <p:nvSpPr>
          <p:cNvPr id="12" name="Shape 10"/>
          <p:cNvSpPr/>
          <p:nvPr/>
        </p:nvSpPr>
        <p:spPr>
          <a:xfrm>
            <a:off x="8083296" y="1965960"/>
            <a:ext cx="3630168" cy="4526280"/>
          </a:xfrm>
          <a:prstGeom prst="roundRect">
            <a:avLst>
              <a:gd name="adj" fmla="val 2015"/>
            </a:avLst>
          </a:prstGeom>
          <a:solidFill>
            <a:srgbClr val="FFFFFF">
              <a:alpha val="95000"/>
            </a:srgbClr>
          </a:solidFill>
          <a:ln w="12700">
            <a:solidFill>
              <a:srgbClr val="E2E4E8"/>
            </a:solidFill>
            <a:prstDash val="solid"/>
          </a:ln>
        </p:spPr>
      </p:sp>
      <p:sp>
        <p:nvSpPr>
          <p:cNvPr id="13" name="Shape 11"/>
          <p:cNvSpPr/>
          <p:nvPr/>
        </p:nvSpPr>
        <p:spPr>
          <a:xfrm>
            <a:off x="8083296" y="1965960"/>
            <a:ext cx="3630168" cy="548640"/>
          </a:xfrm>
          <a:prstGeom prst="roundRect">
            <a:avLst>
              <a:gd name="adj" fmla="val 13333"/>
            </a:avLst>
          </a:prstGeom>
          <a:solidFill>
            <a:srgbClr val="1D8102"/>
          </a:solidFill>
          <a:ln w="12700">
            <a:solidFill>
              <a:srgbClr val="1D8102"/>
            </a:solidFill>
            <a:prstDash val="solid"/>
          </a:ln>
        </p:spPr>
      </p:sp>
      <p:sp>
        <p:nvSpPr>
          <p:cNvPr id="14" name="Text 12"/>
          <p:cNvSpPr/>
          <p:nvPr/>
        </p:nvSpPr>
        <p:spPr>
          <a:xfrm>
            <a:off x="8311896" y="1965960"/>
            <a:ext cx="3172968"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Performance</a:t>
            </a:r>
            <a:endParaRPr lang="en-US" sz="1500" dirty="0"/>
          </a:p>
        </p:txBody>
      </p:sp>
      <p:sp>
        <p:nvSpPr>
          <p:cNvPr id="15" name="Text 13"/>
          <p:cNvSpPr/>
          <p:nvPr/>
        </p:nvSpPr>
        <p:spPr>
          <a:xfrm>
            <a:off x="8357616" y="2651760"/>
            <a:ext cx="3081528" cy="3886200"/>
          </a:xfrm>
          <a:prstGeom prst="rect">
            <a:avLst/>
          </a:prstGeom>
          <a:noFill/>
          <a:ln/>
        </p:spPr>
        <p:txBody>
          <a:bodyPr wrap="square" lIns="0" tIns="0" rIns="0" bIns="0" rtlCol="0" anchor="t"/>
          <a:lstStyle/>
          <a:p>
            <a:pPr marL="177800" indent="-177800">
              <a:spcAft>
                <a:spcPts val="1000"/>
              </a:spcAft>
              <a:buSzPct val="100000"/>
              <a:buChar char="•"/>
            </a:pPr>
            <a:r>
              <a:rPr lang="en-US" sz="980" dirty="0">
                <a:solidFill>
                  <a:srgbClr val="232F3E"/>
                </a:solidFill>
                <a:latin typeface="Arial" pitchFamily="34" charset="0"/>
                <a:ea typeface="Arial" pitchFamily="34" charset="-122"/>
                <a:cs typeface="Arial" pitchFamily="34" charset="-120"/>
              </a:rPr>
              <a:t>Splitting large files into smaller pieces during upload means a brief network hiccup only affects one piece, not the whole file</a:t>
            </a:r>
            <a:endParaRPr lang="en-US" sz="980" dirty="0"/>
          </a:p>
          <a:p>
            <a:pPr marL="177800" indent="-177800">
              <a:spcAft>
                <a:spcPts val="1000"/>
              </a:spcAft>
              <a:buSzPct val="100000"/>
              <a:buChar char="•"/>
            </a:pPr>
            <a:r>
              <a:rPr lang="en-US" sz="980" dirty="0">
                <a:solidFill>
                  <a:srgbClr val="232F3E"/>
                </a:solidFill>
                <a:latin typeface="Arial" pitchFamily="34" charset="0"/>
                <a:ea typeface="Arial" pitchFamily="34" charset="-122"/>
                <a:cs typeface="Arial" pitchFamily="34" charset="-120"/>
              </a:rPr>
              <a:t>Using the private storage shortcut avoids the slower, more limited path that internet-bound traffic would need to take</a:t>
            </a:r>
            <a:endParaRPr lang="en-US" sz="980" dirty="0"/>
          </a:p>
          <a:p>
            <a:pPr marL="177800" indent="-177800">
              <a:spcAft>
                <a:spcPts val="1000"/>
              </a:spcAft>
              <a:buSzPct val="100000"/>
              <a:buChar char="•"/>
            </a:pPr>
            <a:r>
              <a:rPr lang="en-US" sz="980" dirty="0">
                <a:solidFill>
                  <a:srgbClr val="232F3E"/>
                </a:solidFill>
                <a:latin typeface="Arial" pitchFamily="34" charset="0"/>
                <a:ea typeface="Arial" pitchFamily="34" charset="-122"/>
                <a:cs typeface="Arial" pitchFamily="34" charset="-120"/>
              </a:rPr>
              <a:t>If a step fails, it is automatically retried instead of requiring the entire job to be restarted from scratch</a:t>
            </a:r>
            <a:endParaRPr lang="en-US" sz="980" dirty="0"/>
          </a:p>
        </p:txBody>
      </p:sp>
      <p:sp>
        <p:nvSpPr>
          <p:cNvPr id="16" name="Text 14"/>
          <p:cNvSpPr/>
          <p:nvPr/>
        </p:nvSpPr>
        <p:spPr>
          <a:xfrm>
            <a:off x="11658600" y="6492240"/>
            <a:ext cx="457200" cy="274320"/>
          </a:xfrm>
          <a:prstGeom prst="rect">
            <a:avLst/>
          </a:prstGeom>
          <a:noFill/>
          <a:ln/>
        </p:spPr>
        <p:txBody>
          <a:bodyPr wrap="square" lIns="0" tIns="0" rIns="0" bIns="0" rtlCol="0" anchor="ctr"/>
          <a:lstStyle/>
          <a:p>
            <a:pPr algn="r" indent="0" marL="0">
              <a:buNone/>
            </a:pPr>
            <a:r>
              <a:rPr lang="en-US" sz="1000" dirty="0">
                <a:solidFill>
                  <a:srgbClr val="545B64"/>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lIns="0" tIns="0" rIns="0" bIns="0" rtlCol="0" anchor="ctr"/>
          <a:lstStyle/>
          <a:p>
            <a:pPr indent="0" marL="0">
              <a:buNone/>
            </a:pPr>
            <a:r>
              <a:rPr lang="en-US" sz="2500" b="1" dirty="0">
                <a:solidFill>
                  <a:srgbClr val="232F3E"/>
                </a:solidFill>
                <a:latin typeface="Arial" pitchFamily="34" charset="0"/>
                <a:ea typeface="Arial" pitchFamily="34" charset="-122"/>
                <a:cs typeface="Arial" pitchFamily="34" charset="-120"/>
              </a:rPr>
              <a:t>Data Exploitation Architecture</a:t>
            </a:r>
            <a:endParaRPr lang="en-US" sz="2500" dirty="0"/>
          </a:p>
        </p:txBody>
      </p:sp>
      <p:sp>
        <p:nvSpPr>
          <p:cNvPr id="3" name="Text 1"/>
          <p:cNvSpPr/>
          <p:nvPr/>
        </p:nvSpPr>
        <p:spPr>
          <a:xfrm>
            <a:off x="457200" y="749808"/>
            <a:ext cx="11247120" cy="320040"/>
          </a:xfrm>
          <a:prstGeom prst="rect">
            <a:avLst/>
          </a:prstGeom>
          <a:noFill/>
          <a:ln/>
        </p:spPr>
        <p:txBody>
          <a:bodyPr wrap="square" lIns="0" tIns="0" rIns="0" bIns="0" rtlCol="0" anchor="ctr"/>
          <a:lstStyle/>
          <a:p>
            <a:pPr indent="0" marL="0">
              <a:buNone/>
            </a:pPr>
            <a:r>
              <a:rPr lang="en-US" sz="1250" dirty="0">
                <a:solidFill>
                  <a:srgbClr val="545B64"/>
                </a:solidFill>
                <a:latin typeface="Arial" pitchFamily="34" charset="0"/>
                <a:ea typeface="Arial" pitchFamily="34" charset="-122"/>
                <a:cs typeface="Arial" pitchFamily="34" charset="-120"/>
              </a:rPr>
              <a:t>Tableau → Athena Driver, routed privately via AWS PrivateLink</a:t>
            </a:r>
            <a:endParaRPr lang="en-US" sz="1250" dirty="0"/>
          </a:p>
        </p:txBody>
      </p:sp>
      <p:pic>
        <p:nvPicPr>
          <p:cNvPr id="4" name="Image 0" descr="/home/claude/resale_flat_etl/architecture/02_exploitation_pattern.png">    </p:cNvPr>
          <p:cNvPicPr>
            <a:picLocks noChangeAspect="1"/>
          </p:cNvPicPr>
          <p:nvPr/>
        </p:nvPicPr>
        <p:blipFill>
          <a:blip r:embed="rId1"/>
          <a:srcRect l="0" r="0" t="0" b="0"/>
          <a:stretch/>
        </p:blipFill>
        <p:spPr>
          <a:xfrm>
            <a:off x="3493008" y="1051560"/>
            <a:ext cx="5175504" cy="3657600"/>
          </a:xfrm>
          <a:prstGeom prst="rect">
            <a:avLst/>
          </a:prstGeom>
        </p:spPr>
      </p:pic>
      <p:sp>
        <p:nvSpPr>
          <p:cNvPr id="5" name="Text 2"/>
          <p:cNvSpPr/>
          <p:nvPr/>
        </p:nvSpPr>
        <p:spPr>
          <a:xfrm>
            <a:off x="457200" y="4800600"/>
            <a:ext cx="11247120" cy="256032"/>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The Story, Step by Step</a:t>
            </a:r>
            <a:endParaRPr lang="en-US" sz="1350" dirty="0"/>
          </a:p>
        </p:txBody>
      </p:sp>
      <p:sp>
        <p:nvSpPr>
          <p:cNvPr id="6" name="Text 3"/>
          <p:cNvSpPr/>
          <p:nvPr/>
        </p:nvSpPr>
        <p:spPr>
          <a:xfrm>
            <a:off x="457200" y="5102352"/>
            <a:ext cx="5394960" cy="1325880"/>
          </a:xfrm>
          <a:prstGeom prst="rect">
            <a:avLst/>
          </a:prstGeom>
          <a:noFill/>
          <a:ln/>
        </p:spPr>
        <p:txBody>
          <a:bodyPr wrap="square" lIns="0" tIns="0" rIns="0" bIns="0" rtlCol="0" anchor="t"/>
          <a:lstStyle/>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1:  </a:t>
            </a:r>
            <a:pPr indent="0" marL="0">
              <a:lnSpc>
                <a:spcPct val="120000"/>
              </a:lnSpc>
              <a:buNone/>
            </a:pPr>
            <a:r>
              <a:rPr lang="en-US" sz="960" dirty="0">
                <a:solidFill>
                  <a:srgbClr val="232F3E"/>
                </a:solidFill>
                <a:latin typeface="Arial" pitchFamily="34" charset="0"/>
                <a:ea typeface="Arial" pitchFamily="34" charset="-122"/>
                <a:cs typeface="Arial" pitchFamily="34" charset="-120"/>
              </a:rPr>
              <a:t>An analyst in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Tableau</a:t>
            </a:r>
            <a:pPr indent="0" marL="0">
              <a:lnSpc>
                <a:spcPct val="120000"/>
              </a:lnSpc>
              <a:buNone/>
            </a:pPr>
            <a:r>
              <a:rPr lang="en-US" sz="960" dirty="0">
                <a:solidFill>
                  <a:srgbClr val="232F3E"/>
                </a:solidFill>
                <a:latin typeface="Arial" pitchFamily="34" charset="0"/>
                <a:ea typeface="Arial" pitchFamily="34" charset="-122"/>
                <a:cs typeface="Arial" pitchFamily="34" charset="-120"/>
              </a:rPr>
              <a:t> runs a query. Tableau itself runs on a server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EC2</a:t>
            </a:r>
            <a:pPr indent="0" marL="0">
              <a:lnSpc>
                <a:spcPct val="120000"/>
              </a:lnSpc>
              <a:buNone/>
            </a:pPr>
            <a:r>
              <a:rPr lang="en-US" sz="960" dirty="0">
                <a:solidFill>
                  <a:srgbClr val="232F3E"/>
                </a:solidFill>
                <a:latin typeface="Arial" pitchFamily="34" charset="0"/>
                <a:ea typeface="Arial" pitchFamily="34" charset="-122"/>
                <a:cs typeface="Arial" pitchFamily="34" charset="-120"/>
              </a:rPr>
              <a:t>) that lives inside our own </a:t>
            </a:r>
            <a:pPr indent="0" marL="0">
              <a:lnSpc>
                <a:spcPct val="120000"/>
              </a:lnSpc>
              <a:buNone/>
            </a:pPr>
            <a:r>
              <a:rPr lang="en-US" sz="960" b="1" dirty="0">
                <a:solidFill>
                  <a:srgbClr val="1D8102"/>
                </a:solidFill>
                <a:latin typeface="Arial" pitchFamily="34" charset="0"/>
                <a:ea typeface="Arial" pitchFamily="34" charset="-122"/>
                <a:cs typeface="Arial" pitchFamily="34" charset="-120"/>
              </a:rPr>
              <a:t>private</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 network.</a:t>
            </a:r>
            <a:endParaRPr lang="en-US" sz="960" dirty="0"/>
          </a:p>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2:  </a:t>
            </a:r>
            <a:pPr indent="0" marL="0">
              <a:lnSpc>
                <a:spcPct val="120000"/>
              </a:lnSpc>
              <a:buNone/>
            </a:pPr>
            <a:r>
              <a:rPr lang="en-US" sz="960" dirty="0">
                <a:solidFill>
                  <a:srgbClr val="232F3E"/>
                </a:solidFill>
                <a:latin typeface="Arial" pitchFamily="34" charset="0"/>
                <a:ea typeface="Arial" pitchFamily="34" charset="-122"/>
                <a:cs typeface="Arial" pitchFamily="34" charset="-120"/>
              </a:rPr>
              <a:t>That query needs to reach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Amazon Athena</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 the AWS service that actually runs it.</a:t>
            </a:r>
            <a:endParaRPr lang="en-US" sz="960" dirty="0"/>
          </a:p>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3:  </a:t>
            </a:r>
            <a:pPr indent="0" marL="0">
              <a:lnSpc>
                <a:spcPct val="120000"/>
              </a:lnSpc>
              <a:buNone/>
            </a:pPr>
            <a:r>
              <a:rPr lang="en-US" sz="960" dirty="0">
                <a:solidFill>
                  <a:srgbClr val="232F3E"/>
                </a:solidFill>
                <a:latin typeface="Arial" pitchFamily="34" charset="0"/>
                <a:ea typeface="Arial" pitchFamily="34" charset="-122"/>
                <a:cs typeface="Arial" pitchFamily="34" charset="-120"/>
              </a:rPr>
              <a:t>Instead of going out over the </a:t>
            </a:r>
            <a:pPr indent="0" marL="0">
              <a:lnSpc>
                <a:spcPct val="120000"/>
              </a:lnSpc>
              <a:buNone/>
            </a:pPr>
            <a:r>
              <a:rPr lang="en-US" sz="960" b="1" dirty="0">
                <a:solidFill>
                  <a:srgbClr val="B7472A"/>
                </a:solidFill>
                <a:latin typeface="Arial" pitchFamily="34" charset="0"/>
                <a:ea typeface="Arial" pitchFamily="34" charset="-122"/>
                <a:cs typeface="Arial" pitchFamily="34" charset="-120"/>
              </a:rPr>
              <a:t>public internet</a:t>
            </a:r>
            <a:pPr indent="0" marL="0">
              <a:lnSpc>
                <a:spcPct val="120000"/>
              </a:lnSpc>
              <a:buNone/>
            </a:pPr>
            <a:r>
              <a:rPr lang="en-US" sz="960" dirty="0">
                <a:solidFill>
                  <a:srgbClr val="232F3E"/>
                </a:solidFill>
                <a:latin typeface="Arial" pitchFamily="34" charset="0"/>
                <a:ea typeface="Arial" pitchFamily="34" charset="-122"/>
                <a:cs typeface="Arial" pitchFamily="34" charset="-120"/>
              </a:rPr>
              <a:t>, the query passes through a </a:t>
            </a:r>
            <a:pPr indent="0" marL="0">
              <a:lnSpc>
                <a:spcPct val="120000"/>
              </a:lnSpc>
              <a:buNone/>
            </a:pPr>
            <a:r>
              <a:rPr lang="en-US" sz="960" b="1" dirty="0">
                <a:solidFill>
                  <a:srgbClr val="1D8102"/>
                </a:solidFill>
                <a:latin typeface="Arial" pitchFamily="34" charset="0"/>
                <a:ea typeface="Arial" pitchFamily="34" charset="-122"/>
                <a:cs typeface="Arial" pitchFamily="34" charset="-120"/>
              </a:rPr>
              <a:t>private</a:t>
            </a:r>
            <a:pPr indent="0" marL="0">
              <a:lnSpc>
                <a:spcPct val="120000"/>
              </a:lnSpc>
              <a:buNone/>
            </a:pPr>
            <a:r>
              <a:rPr lang="en-US" sz="960" dirty="0">
                <a:solidFill>
                  <a:srgbClr val="232F3E"/>
                </a:solidFill>
                <a:latin typeface="Arial" pitchFamily="34" charset="0"/>
                <a:ea typeface="Arial" pitchFamily="34" charset="-122"/>
                <a:cs typeface="Arial" pitchFamily="34" charset="-120"/>
              </a:rPr>
              <a:t> doorway called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PrivateLink</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 (an Interface Endpoint).</a:t>
            </a:r>
            <a:endParaRPr lang="en-US" sz="960" dirty="0"/>
          </a:p>
        </p:txBody>
      </p:sp>
      <p:sp>
        <p:nvSpPr>
          <p:cNvPr id="7" name="Text 4"/>
          <p:cNvSpPr/>
          <p:nvPr/>
        </p:nvSpPr>
        <p:spPr>
          <a:xfrm>
            <a:off x="6309360" y="5102352"/>
            <a:ext cx="5394960" cy="1325880"/>
          </a:xfrm>
          <a:prstGeom prst="rect">
            <a:avLst/>
          </a:prstGeom>
          <a:noFill/>
          <a:ln/>
        </p:spPr>
        <p:txBody>
          <a:bodyPr wrap="square" lIns="0" tIns="0" rIns="0" bIns="0" rtlCol="0" anchor="t"/>
          <a:lstStyle/>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4:  </a:t>
            </a:r>
            <a:pPr indent="0" marL="0">
              <a:lnSpc>
                <a:spcPct val="120000"/>
              </a:lnSpc>
              <a:buNone/>
            </a:pPr>
            <a:r>
              <a:rPr lang="en-US" sz="960" dirty="0">
                <a:solidFill>
                  <a:srgbClr val="232F3E"/>
                </a:solidFill>
                <a:latin typeface="Arial" pitchFamily="34" charset="0"/>
                <a:ea typeface="Arial" pitchFamily="34" charset="-122"/>
                <a:cs typeface="Arial" pitchFamily="34" charset="-120"/>
              </a:rPr>
              <a:t>The request travels entirely inside AWS's own network and </a:t>
            </a:r>
            <a:pPr indent="0" marL="0">
              <a:lnSpc>
                <a:spcPct val="120000"/>
              </a:lnSpc>
              <a:buNone/>
            </a:pPr>
            <a:r>
              <a:rPr lang="en-US" sz="960" b="1" dirty="0">
                <a:solidFill>
                  <a:srgbClr val="1D8102"/>
                </a:solidFill>
                <a:latin typeface="Arial" pitchFamily="34" charset="0"/>
                <a:ea typeface="Arial" pitchFamily="34" charset="-122"/>
                <a:cs typeface="Arial" pitchFamily="34" charset="-120"/>
              </a:rPr>
              <a:t>never touches the public internet</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 at any point.</a:t>
            </a:r>
            <a:endParaRPr lang="en-US" sz="960" dirty="0"/>
          </a:p>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5:  </a:t>
            </a:r>
            <a:pPr indent="0" marL="0">
              <a:lnSpc>
                <a:spcPct val="120000"/>
              </a:lnSpc>
              <a:buNone/>
            </a:pPr>
            <a:r>
              <a:rPr lang="en-US" sz="960" dirty="0">
                <a:solidFill>
                  <a:srgbClr val="232F3E"/>
                </a:solidFill>
                <a:latin typeface="Arial" pitchFamily="34" charset="0"/>
                <a:ea typeface="Arial" pitchFamily="34" charset="-122"/>
                <a:cs typeface="Arial" pitchFamily="34" charset="-120"/>
              </a:rPr>
              <a:t>Athena checks the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Glue Data Catalog</a:t>
            </a:r>
            <a:pPr indent="0" marL="0">
              <a:lnSpc>
                <a:spcPct val="120000"/>
              </a:lnSpc>
              <a:buNone/>
            </a:pPr>
            <a:r>
              <a:rPr lang="en-US" sz="960" dirty="0">
                <a:solidFill>
                  <a:srgbClr val="232F3E"/>
                </a:solidFill>
                <a:latin typeface="Arial" pitchFamily="34" charset="0"/>
                <a:ea typeface="Arial" pitchFamily="34" charset="-122"/>
                <a:cs typeface="Arial" pitchFamily="34" charset="-120"/>
              </a:rPr>
              <a:t> to understand the tables and columns, then reads the actual data straight from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Amazon S3</a:t>
            </a:r>
            <a:pPr indent="0" marL="0">
              <a:lnSpc>
                <a:spcPct val="120000"/>
              </a:lnSpc>
              <a:buNone/>
            </a:pPr>
            <a:r>
              <a:rPr lang="en-US" sz="960" dirty="0">
                <a:solidFill>
                  <a:srgbClr val="232F3E"/>
                </a:solidFill>
                <a:latin typeface="Arial" pitchFamily="34" charset="0"/>
                <a:ea typeface="Arial" pitchFamily="34" charset="-122"/>
                <a:cs typeface="Arial" pitchFamily="34" charset="-120"/>
              </a:rPr>
              <a:t> using another private shortcut (a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VPC Gateway Endpoint</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a:t>
            </a:r>
            <a:endParaRPr lang="en-US" sz="960" dirty="0"/>
          </a:p>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6:  </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The result is saved briefly into its own separate, private storage bucket, before being shown back to the analyst in Tableau.</a:t>
            </a:r>
            <a:endParaRPr lang="en-US" sz="960" dirty="0"/>
          </a:p>
        </p:txBody>
      </p:sp>
      <p:sp>
        <p:nvSpPr>
          <p:cNvPr id="8" name="Text 5"/>
          <p:cNvSpPr/>
          <p:nvPr/>
        </p:nvSpPr>
        <p:spPr>
          <a:xfrm>
            <a:off x="11658600" y="6492240"/>
            <a:ext cx="457200" cy="274320"/>
          </a:xfrm>
          <a:prstGeom prst="rect">
            <a:avLst/>
          </a:prstGeom>
          <a:noFill/>
          <a:ln/>
        </p:spPr>
        <p:txBody>
          <a:bodyPr wrap="square" lIns="0" tIns="0" rIns="0" bIns="0" rtlCol="0" anchor="ctr"/>
          <a:lstStyle/>
          <a:p>
            <a:pPr algn="r" indent="0" marL="0">
              <a:buNone/>
            </a:pPr>
            <a:r>
              <a:rPr lang="en-US" sz="1000" dirty="0">
                <a:solidFill>
                  <a:srgbClr val="545B64"/>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lIns="0" tIns="0" rIns="0" bIns="0" rtlCol="0" anchor="ctr"/>
          <a:lstStyle/>
          <a:p>
            <a:pPr indent="0" marL="0">
              <a:buNone/>
            </a:pPr>
            <a:r>
              <a:rPr lang="en-US" sz="2500" b="1" dirty="0">
                <a:solidFill>
                  <a:srgbClr val="232F3E"/>
                </a:solidFill>
                <a:latin typeface="Arial" pitchFamily="34" charset="0"/>
                <a:ea typeface="Arial" pitchFamily="34" charset="-122"/>
                <a:cs typeface="Arial" pitchFamily="34" charset="-120"/>
              </a:rPr>
              <a:t>Exploitation: Security, Scalability &amp; Performance</a:t>
            </a:r>
            <a:endParaRPr lang="en-US" sz="2500" dirty="0"/>
          </a:p>
        </p:txBody>
      </p:sp>
      <p:sp>
        <p:nvSpPr>
          <p:cNvPr id="3" name="Text 1"/>
          <p:cNvSpPr/>
          <p:nvPr/>
        </p:nvSpPr>
        <p:spPr>
          <a:xfrm>
            <a:off x="457200" y="1051560"/>
            <a:ext cx="11247120" cy="777240"/>
          </a:xfrm>
          <a:prstGeom prst="rect">
            <a:avLst/>
          </a:prstGeom>
          <a:solidFill>
            <a:srgbClr val="F7F8FA"/>
          </a:solidFill>
          <a:ln w="9525">
            <a:solidFill>
              <a:srgbClr val="E2E4E8"/>
            </a:solidFill>
          </a:ln>
        </p:spPr>
        <p:txBody>
          <a:bodyPr wrap="square" lIns="0" tIns="0" rIns="0" bIns="0" rtlCol="0" anchor="t"/>
          <a:lstStyle/>
          <a:p>
            <a:pPr indent="0" marL="0">
              <a:lnSpc>
                <a:spcPct val="115000"/>
              </a:lnSpc>
              <a:buNone/>
            </a:pPr>
            <a:r>
              <a:rPr lang="en-US" sz="1250" dirty="0">
                <a:solidFill>
                  <a:srgbClr val="232F3E"/>
                </a:solidFill>
                <a:latin typeface="Arial" pitchFamily="34" charset="0"/>
                <a:ea typeface="Arial" pitchFamily="34" charset="-122"/>
                <a:cs typeface="Arial" pitchFamily="34" charset="-120"/>
              </a:rPr>
              <a:t>The same three concerns apply here, but from the point of view of analysts querying the data rather than data arriving from outside. Each column below explains how the exploitation design keeps queries private, handles many analysts at once, and keeps queries fast.</a:t>
            </a:r>
            <a:endParaRPr lang="en-US" sz="1250" dirty="0"/>
          </a:p>
        </p:txBody>
      </p:sp>
      <p:sp>
        <p:nvSpPr>
          <p:cNvPr id="4" name="Shape 2"/>
          <p:cNvSpPr/>
          <p:nvPr/>
        </p:nvSpPr>
        <p:spPr>
          <a:xfrm>
            <a:off x="457200" y="1965960"/>
            <a:ext cx="3630168" cy="4526280"/>
          </a:xfrm>
          <a:prstGeom prst="roundRect">
            <a:avLst>
              <a:gd name="adj" fmla="val 2015"/>
            </a:avLst>
          </a:prstGeom>
          <a:solidFill>
            <a:srgbClr val="FFFFFF">
              <a:alpha val="95000"/>
            </a:srgbClr>
          </a:solidFill>
          <a:ln w="12700">
            <a:solidFill>
              <a:srgbClr val="E2E4E8"/>
            </a:solidFill>
            <a:prstDash val="solid"/>
          </a:ln>
        </p:spPr>
      </p:sp>
      <p:sp>
        <p:nvSpPr>
          <p:cNvPr id="5" name="Shape 3"/>
          <p:cNvSpPr/>
          <p:nvPr/>
        </p:nvSpPr>
        <p:spPr>
          <a:xfrm>
            <a:off x="457200" y="1965960"/>
            <a:ext cx="3630168" cy="548640"/>
          </a:xfrm>
          <a:prstGeom prst="roundRect">
            <a:avLst>
              <a:gd name="adj" fmla="val 13333"/>
            </a:avLst>
          </a:prstGeom>
          <a:solidFill>
            <a:srgbClr val="B7472A"/>
          </a:solidFill>
          <a:ln w="12700">
            <a:solidFill>
              <a:srgbClr val="B7472A"/>
            </a:solidFill>
            <a:prstDash val="solid"/>
          </a:ln>
        </p:spPr>
      </p:sp>
      <p:sp>
        <p:nvSpPr>
          <p:cNvPr id="6" name="Text 4"/>
          <p:cNvSpPr/>
          <p:nvPr/>
        </p:nvSpPr>
        <p:spPr>
          <a:xfrm>
            <a:off x="685800" y="1965960"/>
            <a:ext cx="3172968"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Security</a:t>
            </a:r>
            <a:endParaRPr lang="en-US" sz="1500" dirty="0"/>
          </a:p>
        </p:txBody>
      </p:sp>
      <p:sp>
        <p:nvSpPr>
          <p:cNvPr id="7" name="Text 5"/>
          <p:cNvSpPr/>
          <p:nvPr/>
        </p:nvSpPr>
        <p:spPr>
          <a:xfrm>
            <a:off x="731520" y="2651760"/>
            <a:ext cx="3081528" cy="3886200"/>
          </a:xfrm>
          <a:prstGeom prst="rect">
            <a:avLst/>
          </a:prstGeom>
          <a:noFill/>
          <a:ln/>
        </p:spPr>
        <p:txBody>
          <a:bodyPr wrap="square" lIns="0" tIns="0" rIns="0" bIns="0" rtlCol="0" anchor="t"/>
          <a:lstStyle/>
          <a:p>
            <a:pPr marL="177800" indent="-177800">
              <a:spcAft>
                <a:spcPts val="1100"/>
              </a:spcAft>
              <a:buSzPct val="100000"/>
              <a:buChar char="•"/>
            </a:pPr>
            <a:r>
              <a:rPr lang="en-US" sz="1000" dirty="0">
                <a:solidFill>
                  <a:srgbClr val="232F3E"/>
                </a:solidFill>
                <a:latin typeface="Arial" pitchFamily="34" charset="0"/>
                <a:ea typeface="Arial" pitchFamily="34" charset="-122"/>
                <a:cs typeface="Arial" pitchFamily="34" charset="-120"/>
              </a:rPr>
              <a:t>Athena's normal public address is never used. All traffic goes through the private Interface Endpoint instead</a:t>
            </a:r>
            <a:endParaRPr lang="en-US" sz="1000" dirty="0"/>
          </a:p>
          <a:p>
            <a:pPr marL="177800" indent="-177800">
              <a:spcAft>
                <a:spcPts val="1100"/>
              </a:spcAft>
              <a:buSzPct val="100000"/>
              <a:buChar char="•"/>
            </a:pPr>
            <a:r>
              <a:rPr lang="en-US" sz="1000" dirty="0">
                <a:solidFill>
                  <a:srgbClr val="232F3E"/>
                </a:solidFill>
                <a:latin typeface="Arial" pitchFamily="34" charset="0"/>
                <a:ea typeface="Arial" pitchFamily="34" charset="-122"/>
                <a:cs typeface="Arial" pitchFamily="34" charset="-120"/>
              </a:rPr>
              <a:t>The endpoint only accepts connections from the Tableau server itself, on the standard secure web port</a:t>
            </a:r>
            <a:endParaRPr lang="en-US" sz="1000" dirty="0"/>
          </a:p>
          <a:p>
            <a:pPr marL="177800" indent="-177800">
              <a:spcAft>
                <a:spcPts val="1100"/>
              </a:spcAft>
              <a:buSzPct val="100000"/>
              <a:buChar char="•"/>
            </a:pPr>
            <a:r>
              <a:rPr lang="en-US" sz="1000" dirty="0">
                <a:solidFill>
                  <a:srgbClr val="232F3E"/>
                </a:solidFill>
                <a:latin typeface="Arial" pitchFamily="34" charset="0"/>
                <a:ea typeface="Arial" pitchFamily="34" charset="-122"/>
                <a:cs typeface="Arial" pitchFamily="34" charset="-120"/>
              </a:rPr>
              <a:t>Source data and query results are kept in two separate buckets, both private and both encrypted</a:t>
            </a:r>
            <a:endParaRPr lang="en-US" sz="1000" dirty="0"/>
          </a:p>
          <a:p>
            <a:pPr marL="177800" indent="-177800">
              <a:spcAft>
                <a:spcPts val="1100"/>
              </a:spcAft>
              <a:buSzPct val="100000"/>
              <a:buChar char="•"/>
            </a:pPr>
            <a:r>
              <a:rPr lang="en-US" sz="1000" dirty="0">
                <a:solidFill>
                  <a:srgbClr val="232F3E"/>
                </a:solidFill>
                <a:latin typeface="Arial" pitchFamily="34" charset="0"/>
                <a:ea typeface="Arial" pitchFamily="34" charset="-122"/>
                <a:cs typeface="Arial" pitchFamily="34" charset="-120"/>
              </a:rPr>
              <a:t>The Tableau server's permissions are limited to specific databases and storage locations only</a:t>
            </a:r>
            <a:endParaRPr lang="en-US" sz="1000" dirty="0"/>
          </a:p>
          <a:p>
            <a:pPr marL="177800" indent="-177800">
              <a:spcAft>
                <a:spcPts val="1100"/>
              </a:spcAft>
              <a:buSzPct val="100000"/>
              <a:buChar char="•"/>
            </a:pPr>
            <a:r>
              <a:rPr lang="en-US" sz="1000" dirty="0">
                <a:solidFill>
                  <a:srgbClr val="232F3E"/>
                </a:solidFill>
                <a:latin typeface="Arial" pitchFamily="34" charset="0"/>
                <a:ea typeface="Arial" pitchFamily="34" charset="-122"/>
                <a:cs typeface="Arial" pitchFamily="34" charset="-120"/>
              </a:rPr>
              <a:t>Every Athena and Glue action taken through this path is logged for later review</a:t>
            </a:r>
            <a:endParaRPr lang="en-US" sz="1000" dirty="0"/>
          </a:p>
        </p:txBody>
      </p:sp>
      <p:sp>
        <p:nvSpPr>
          <p:cNvPr id="8" name="Shape 6"/>
          <p:cNvSpPr/>
          <p:nvPr/>
        </p:nvSpPr>
        <p:spPr>
          <a:xfrm>
            <a:off x="4270248" y="1965960"/>
            <a:ext cx="3630168" cy="4526280"/>
          </a:xfrm>
          <a:prstGeom prst="roundRect">
            <a:avLst>
              <a:gd name="adj" fmla="val 2015"/>
            </a:avLst>
          </a:prstGeom>
          <a:solidFill>
            <a:srgbClr val="FFFFFF">
              <a:alpha val="95000"/>
            </a:srgbClr>
          </a:solidFill>
          <a:ln w="12700">
            <a:solidFill>
              <a:srgbClr val="E2E4E8"/>
            </a:solidFill>
            <a:prstDash val="solid"/>
          </a:ln>
        </p:spPr>
      </p:sp>
      <p:sp>
        <p:nvSpPr>
          <p:cNvPr id="9" name="Shape 7"/>
          <p:cNvSpPr/>
          <p:nvPr/>
        </p:nvSpPr>
        <p:spPr>
          <a:xfrm>
            <a:off x="4270248" y="1965960"/>
            <a:ext cx="3630168" cy="548640"/>
          </a:xfrm>
          <a:prstGeom prst="roundRect">
            <a:avLst>
              <a:gd name="adj" fmla="val 13333"/>
            </a:avLst>
          </a:prstGeom>
          <a:solidFill>
            <a:srgbClr val="232F3E"/>
          </a:solidFill>
          <a:ln w="12700">
            <a:solidFill>
              <a:srgbClr val="232F3E"/>
            </a:solidFill>
            <a:prstDash val="solid"/>
          </a:ln>
        </p:spPr>
      </p:sp>
      <p:sp>
        <p:nvSpPr>
          <p:cNvPr id="10" name="Text 8"/>
          <p:cNvSpPr/>
          <p:nvPr/>
        </p:nvSpPr>
        <p:spPr>
          <a:xfrm>
            <a:off x="4498848" y="1965960"/>
            <a:ext cx="3172968"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Scalability</a:t>
            </a:r>
            <a:endParaRPr lang="en-US" sz="1500" dirty="0"/>
          </a:p>
        </p:txBody>
      </p:sp>
      <p:sp>
        <p:nvSpPr>
          <p:cNvPr id="11" name="Text 9"/>
          <p:cNvSpPr/>
          <p:nvPr/>
        </p:nvSpPr>
        <p:spPr>
          <a:xfrm>
            <a:off x="4544568" y="2651760"/>
            <a:ext cx="3081528" cy="3886200"/>
          </a:xfrm>
          <a:prstGeom prst="rect">
            <a:avLst/>
          </a:prstGeom>
          <a:noFill/>
          <a:ln/>
        </p:spPr>
        <p:txBody>
          <a:bodyPr wrap="square" lIns="0" tIns="0" rIns="0" bIns="0" rtlCol="0" anchor="t"/>
          <a:lstStyle/>
          <a:p>
            <a:pPr marL="177800" indent="-177800">
              <a:spcAft>
                <a:spcPts val="1100"/>
              </a:spcAft>
              <a:buSzPct val="100000"/>
              <a:buChar char="•"/>
            </a:pPr>
            <a:r>
              <a:rPr lang="en-US" sz="1000" dirty="0">
                <a:solidFill>
                  <a:srgbClr val="232F3E"/>
                </a:solidFill>
                <a:latin typeface="Arial" pitchFamily="34" charset="0"/>
                <a:ea typeface="Arial" pitchFamily="34" charset="-122"/>
                <a:cs typeface="Arial" pitchFamily="34" charset="-120"/>
              </a:rPr>
              <a:t>Athena requires no servers to manage. AWS automatically handles more queries as demand grows</a:t>
            </a:r>
            <a:endParaRPr lang="en-US" sz="1000" dirty="0"/>
          </a:p>
          <a:p>
            <a:pPr marL="177800" indent="-177800">
              <a:spcAft>
                <a:spcPts val="1100"/>
              </a:spcAft>
              <a:buSzPct val="100000"/>
              <a:buChar char="•"/>
            </a:pPr>
            <a:r>
              <a:rPr lang="en-US" sz="1000" dirty="0">
                <a:solidFill>
                  <a:srgbClr val="232F3E"/>
                </a:solidFill>
                <a:latin typeface="Arial" pitchFamily="34" charset="0"/>
                <a:ea typeface="Arial" pitchFamily="34" charset="-122"/>
                <a:cs typeface="Arial" pitchFamily="34" charset="-120"/>
              </a:rPr>
              <a:t>Several analysts can run queries at the same time, up to an adjustable limit that can be raised if the team grows</a:t>
            </a:r>
            <a:endParaRPr lang="en-US" sz="1000" dirty="0"/>
          </a:p>
          <a:p>
            <a:pPr marL="177800" indent="-177800">
              <a:spcAft>
                <a:spcPts val="1100"/>
              </a:spcAft>
              <a:buSzPct val="100000"/>
              <a:buChar char="•"/>
            </a:pPr>
            <a:r>
              <a:rPr lang="en-US" sz="1000" dirty="0">
                <a:solidFill>
                  <a:srgbClr val="232F3E"/>
                </a:solidFill>
                <a:latin typeface="Arial" pitchFamily="34" charset="0"/>
                <a:ea typeface="Arial" pitchFamily="34" charset="-122"/>
                <a:cs typeface="Arial" pitchFamily="34" charset="-120"/>
              </a:rPr>
              <a:t>There is no infrastructure that needs to be resized as query volume increases over time</a:t>
            </a:r>
            <a:endParaRPr lang="en-US" sz="1000" dirty="0"/>
          </a:p>
        </p:txBody>
      </p:sp>
      <p:sp>
        <p:nvSpPr>
          <p:cNvPr id="12" name="Shape 10"/>
          <p:cNvSpPr/>
          <p:nvPr/>
        </p:nvSpPr>
        <p:spPr>
          <a:xfrm>
            <a:off x="8083296" y="1965960"/>
            <a:ext cx="3630168" cy="4526280"/>
          </a:xfrm>
          <a:prstGeom prst="roundRect">
            <a:avLst>
              <a:gd name="adj" fmla="val 2015"/>
            </a:avLst>
          </a:prstGeom>
          <a:solidFill>
            <a:srgbClr val="FFFFFF">
              <a:alpha val="95000"/>
            </a:srgbClr>
          </a:solidFill>
          <a:ln w="12700">
            <a:solidFill>
              <a:srgbClr val="E2E4E8"/>
            </a:solidFill>
            <a:prstDash val="solid"/>
          </a:ln>
        </p:spPr>
      </p:sp>
      <p:sp>
        <p:nvSpPr>
          <p:cNvPr id="13" name="Shape 11"/>
          <p:cNvSpPr/>
          <p:nvPr/>
        </p:nvSpPr>
        <p:spPr>
          <a:xfrm>
            <a:off x="8083296" y="1965960"/>
            <a:ext cx="3630168" cy="548640"/>
          </a:xfrm>
          <a:prstGeom prst="roundRect">
            <a:avLst>
              <a:gd name="adj" fmla="val 13333"/>
            </a:avLst>
          </a:prstGeom>
          <a:solidFill>
            <a:srgbClr val="1D8102"/>
          </a:solidFill>
          <a:ln w="12700">
            <a:solidFill>
              <a:srgbClr val="1D8102"/>
            </a:solidFill>
            <a:prstDash val="solid"/>
          </a:ln>
        </p:spPr>
      </p:sp>
      <p:sp>
        <p:nvSpPr>
          <p:cNvPr id="14" name="Text 12"/>
          <p:cNvSpPr/>
          <p:nvPr/>
        </p:nvSpPr>
        <p:spPr>
          <a:xfrm>
            <a:off x="8311896" y="1965960"/>
            <a:ext cx="3172968"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Performance</a:t>
            </a:r>
            <a:endParaRPr lang="en-US" sz="1500" dirty="0"/>
          </a:p>
        </p:txBody>
      </p:sp>
      <p:sp>
        <p:nvSpPr>
          <p:cNvPr id="15" name="Text 13"/>
          <p:cNvSpPr/>
          <p:nvPr/>
        </p:nvSpPr>
        <p:spPr>
          <a:xfrm>
            <a:off x="8357616" y="2651760"/>
            <a:ext cx="3081528" cy="3886200"/>
          </a:xfrm>
          <a:prstGeom prst="rect">
            <a:avLst/>
          </a:prstGeom>
          <a:noFill/>
          <a:ln/>
        </p:spPr>
        <p:txBody>
          <a:bodyPr wrap="square" lIns="0" tIns="0" rIns="0" bIns="0" rtlCol="0" anchor="t"/>
          <a:lstStyle/>
          <a:p>
            <a:pPr marL="177800" indent="-177800">
              <a:spcAft>
                <a:spcPts val="1100"/>
              </a:spcAft>
              <a:buSzPct val="100000"/>
              <a:buChar char="•"/>
            </a:pPr>
            <a:r>
              <a:rPr lang="en-US" sz="1000" dirty="0">
                <a:solidFill>
                  <a:srgbClr val="232F3E"/>
                </a:solidFill>
                <a:latin typeface="Arial" pitchFamily="34" charset="0"/>
                <a:ea typeface="Arial" pitchFamily="34" charset="-122"/>
                <a:cs typeface="Arial" pitchFamily="34" charset="-120"/>
              </a:rPr>
              <a:t>Storing data in the Parquet format lets Athena skip over columns it does not need, making queries faster and cheaper</a:t>
            </a:r>
            <a:endParaRPr lang="en-US" sz="1000" dirty="0"/>
          </a:p>
          <a:p>
            <a:pPr marL="177800" indent="-177800">
              <a:spcAft>
                <a:spcPts val="1100"/>
              </a:spcAft>
              <a:buSzPct val="100000"/>
              <a:buChar char="•"/>
            </a:pPr>
            <a:r>
              <a:rPr lang="en-US" sz="1000" dirty="0">
                <a:solidFill>
                  <a:srgbClr val="232F3E"/>
                </a:solidFill>
                <a:latin typeface="Arial" pitchFamily="34" charset="0"/>
                <a:ea typeface="Arial" pitchFamily="34" charset="-122"/>
                <a:cs typeface="Arial" pitchFamily="34" charset="-120"/>
              </a:rPr>
              <a:t>A query limit can be set so that one very large, poorly written query cannot slow down queries from other analysts</a:t>
            </a:r>
            <a:endParaRPr lang="en-US" sz="1000" dirty="0"/>
          </a:p>
          <a:p>
            <a:pPr marL="177800" indent="-177800">
              <a:spcAft>
                <a:spcPts val="1100"/>
              </a:spcAft>
              <a:buSzPct val="100000"/>
              <a:buChar char="•"/>
            </a:pPr>
            <a:r>
              <a:rPr lang="en-US" sz="1000" dirty="0">
                <a:solidFill>
                  <a:srgbClr val="232F3E"/>
                </a:solidFill>
                <a:latin typeface="Arial" pitchFamily="34" charset="0"/>
                <a:ea typeface="Arial" pitchFamily="34" charset="-122"/>
                <a:cs typeface="Arial" pitchFamily="34" charset="-120"/>
              </a:rPr>
              <a:t>Repeated dashboard refreshes in Tableau can reuse earlier query results instead of recalculating from scratch</a:t>
            </a:r>
            <a:endParaRPr lang="en-US" sz="1000" dirty="0"/>
          </a:p>
        </p:txBody>
      </p:sp>
      <p:sp>
        <p:nvSpPr>
          <p:cNvPr id="16" name="Text 14"/>
          <p:cNvSpPr/>
          <p:nvPr/>
        </p:nvSpPr>
        <p:spPr>
          <a:xfrm>
            <a:off x="11658600" y="6492240"/>
            <a:ext cx="457200" cy="274320"/>
          </a:xfrm>
          <a:prstGeom prst="rect">
            <a:avLst/>
          </a:prstGeom>
          <a:noFill/>
          <a:ln/>
        </p:spPr>
        <p:txBody>
          <a:bodyPr wrap="square" lIns="0" tIns="0" rIns="0" bIns="0" rtlCol="0" anchor="ctr"/>
          <a:lstStyle/>
          <a:p>
            <a:pPr algn="r" indent="0" marL="0">
              <a:buNone/>
            </a:pPr>
            <a:r>
              <a:rPr lang="en-US" sz="1000" dirty="0">
                <a:solidFill>
                  <a:srgbClr val="545B64"/>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lIns="0" tIns="0" rIns="0" bIns="0" rtlCol="0" anchor="ctr"/>
          <a:lstStyle/>
          <a:p>
            <a:pPr indent="0" marL="0">
              <a:buNone/>
            </a:pPr>
            <a:r>
              <a:rPr lang="en-US" sz="2500" b="1" dirty="0">
                <a:solidFill>
                  <a:srgbClr val="232F3E"/>
                </a:solidFill>
                <a:latin typeface="Arial" pitchFamily="34" charset="0"/>
                <a:ea typeface="Arial" pitchFamily="34" charset="-122"/>
                <a:cs typeface="Arial" pitchFamily="34" charset="-120"/>
              </a:rPr>
              <a:t>End-to-End Overview</a:t>
            </a:r>
            <a:endParaRPr lang="en-US" sz="2500" dirty="0"/>
          </a:p>
        </p:txBody>
      </p:sp>
      <p:sp>
        <p:nvSpPr>
          <p:cNvPr id="3" name="Text 1"/>
          <p:cNvSpPr/>
          <p:nvPr/>
        </p:nvSpPr>
        <p:spPr>
          <a:xfrm>
            <a:off x="457200" y="749808"/>
            <a:ext cx="11247120" cy="320040"/>
          </a:xfrm>
          <a:prstGeom prst="rect">
            <a:avLst/>
          </a:prstGeom>
          <a:noFill/>
          <a:ln/>
        </p:spPr>
        <p:txBody>
          <a:bodyPr wrap="square" lIns="0" tIns="0" rIns="0" bIns="0" rtlCol="0" anchor="ctr"/>
          <a:lstStyle/>
          <a:p>
            <a:pPr indent="0" marL="0">
              <a:buNone/>
            </a:pPr>
            <a:r>
              <a:rPr lang="en-US" sz="1250" dirty="0">
                <a:solidFill>
                  <a:srgbClr val="545B64"/>
                </a:solidFill>
                <a:latin typeface="Arial" pitchFamily="34" charset="0"/>
                <a:ea typeface="Arial" pitchFamily="34" charset="-122"/>
                <a:cs typeface="Arial" pitchFamily="34" charset="-120"/>
              </a:rPr>
              <a:t>Ingestion and Exploitation patterns joined at the S3 data lake</a:t>
            </a:r>
            <a:endParaRPr lang="en-US" sz="1250" dirty="0"/>
          </a:p>
        </p:txBody>
      </p:sp>
      <p:pic>
        <p:nvPicPr>
          <p:cNvPr id="4" name="Image 0" descr="/home/claude/resale_flat_etl/architecture/03_combined_overview.png">    </p:cNvPr>
          <p:cNvPicPr>
            <a:picLocks noChangeAspect="1"/>
          </p:cNvPicPr>
          <p:nvPr/>
        </p:nvPicPr>
        <p:blipFill>
          <a:blip r:embed="rId1"/>
          <a:srcRect l="0" r="0" t="0" b="0"/>
          <a:stretch/>
        </p:blipFill>
        <p:spPr>
          <a:xfrm>
            <a:off x="3264408" y="1051560"/>
            <a:ext cx="5632704" cy="3657600"/>
          </a:xfrm>
          <a:prstGeom prst="rect">
            <a:avLst/>
          </a:prstGeom>
        </p:spPr>
      </p:pic>
      <p:sp>
        <p:nvSpPr>
          <p:cNvPr id="5" name="Text 2"/>
          <p:cNvSpPr/>
          <p:nvPr/>
        </p:nvSpPr>
        <p:spPr>
          <a:xfrm>
            <a:off x="457200" y="4800600"/>
            <a:ext cx="11247120" cy="256032"/>
          </a:xfrm>
          <a:prstGeom prst="rect">
            <a:avLst/>
          </a:prstGeom>
          <a:noFill/>
          <a:ln/>
        </p:spPr>
        <p:txBody>
          <a:bodyPr wrap="square" lIns="0" tIns="0" rIns="0" bIns="0" rtlCol="0" anchor="ctr"/>
          <a:lstStyle/>
          <a:p>
            <a:pPr indent="0" marL="0">
              <a:buNone/>
            </a:pPr>
            <a:r>
              <a:rPr lang="en-US" sz="1350" b="1" dirty="0">
                <a:solidFill>
                  <a:srgbClr val="232F3E"/>
                </a:solidFill>
                <a:latin typeface="Arial" pitchFamily="34" charset="0"/>
                <a:ea typeface="Arial" pitchFamily="34" charset="-122"/>
                <a:cs typeface="Arial" pitchFamily="34" charset="-120"/>
              </a:rPr>
              <a:t>The Whole Journey, Step by Step</a:t>
            </a:r>
            <a:endParaRPr lang="en-US" sz="1350" dirty="0"/>
          </a:p>
        </p:txBody>
      </p:sp>
      <p:sp>
        <p:nvSpPr>
          <p:cNvPr id="6" name="Text 3"/>
          <p:cNvSpPr/>
          <p:nvPr/>
        </p:nvSpPr>
        <p:spPr>
          <a:xfrm>
            <a:off x="457200" y="5102352"/>
            <a:ext cx="5394960" cy="1325880"/>
          </a:xfrm>
          <a:prstGeom prst="rect">
            <a:avLst/>
          </a:prstGeom>
          <a:noFill/>
          <a:ln/>
        </p:spPr>
        <p:txBody>
          <a:bodyPr wrap="square" lIns="0" tIns="0" rIns="0" bIns="0" rtlCol="0" anchor="t"/>
          <a:lstStyle/>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1:  </a:t>
            </a:r>
            <a:pPr indent="0" marL="0">
              <a:lnSpc>
                <a:spcPct val="120000"/>
              </a:lnSpc>
              <a:buNone/>
            </a:pPr>
            <a:r>
              <a:rPr lang="en-US" sz="960" dirty="0">
                <a:solidFill>
                  <a:srgbClr val="232F3E"/>
                </a:solidFill>
                <a:latin typeface="Arial" pitchFamily="34" charset="0"/>
                <a:ea typeface="Arial" pitchFamily="34" charset="-122"/>
                <a:cs typeface="Arial" pitchFamily="34" charset="-120"/>
              </a:rPr>
              <a:t>A scheduled job pulls the file from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data.gov.sg</a:t>
            </a:r>
            <a:pPr indent="0" marL="0">
              <a:lnSpc>
                <a:spcPct val="120000"/>
              </a:lnSpc>
              <a:buNone/>
            </a:pPr>
            <a:r>
              <a:rPr lang="en-US" sz="960" dirty="0">
                <a:solidFill>
                  <a:srgbClr val="232F3E"/>
                </a:solidFill>
                <a:latin typeface="Arial" pitchFamily="34" charset="0"/>
                <a:ea typeface="Arial" pitchFamily="34" charset="-122"/>
                <a:cs typeface="Arial" pitchFamily="34" charset="-120"/>
              </a:rPr>
              <a:t>, the </a:t>
            </a:r>
            <a:pPr indent="0" marL="0">
              <a:lnSpc>
                <a:spcPct val="120000"/>
              </a:lnSpc>
              <a:buNone/>
            </a:pPr>
            <a:r>
              <a:rPr lang="en-US" sz="960" b="1" dirty="0">
                <a:solidFill>
                  <a:srgbClr val="B7472A"/>
                </a:solidFill>
                <a:latin typeface="Arial" pitchFamily="34" charset="0"/>
                <a:ea typeface="Arial" pitchFamily="34" charset="-122"/>
                <a:cs typeface="Arial" pitchFamily="34" charset="-120"/>
              </a:rPr>
              <a:t>public</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 government website, using an outbound only connection.</a:t>
            </a:r>
            <a:endParaRPr lang="en-US" sz="960" dirty="0"/>
          </a:p>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2:  </a:t>
            </a:r>
            <a:pPr indent="0" marL="0">
              <a:lnSpc>
                <a:spcPct val="120000"/>
              </a:lnSpc>
              <a:buNone/>
            </a:pPr>
            <a:r>
              <a:rPr lang="en-US" sz="960" dirty="0">
                <a:solidFill>
                  <a:srgbClr val="232F3E"/>
                </a:solidFill>
                <a:latin typeface="Arial" pitchFamily="34" charset="0"/>
                <a:ea typeface="Arial" pitchFamily="34" charset="-122"/>
                <a:cs typeface="Arial" pitchFamily="34" charset="-120"/>
              </a:rPr>
              <a:t>The file lands in the raw zone of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Amazon S3</a:t>
            </a:r>
            <a:pPr indent="0" marL="0">
              <a:lnSpc>
                <a:spcPct val="120000"/>
              </a:lnSpc>
              <a:buNone/>
            </a:pPr>
            <a:r>
              <a:rPr lang="en-US" sz="960" dirty="0">
                <a:solidFill>
                  <a:srgbClr val="232F3E"/>
                </a:solidFill>
                <a:latin typeface="Arial" pitchFamily="34" charset="0"/>
                <a:ea typeface="Arial" pitchFamily="34" charset="-122"/>
                <a:cs typeface="Arial" pitchFamily="34" charset="-120"/>
              </a:rPr>
              <a:t>, our </a:t>
            </a:r>
            <a:pPr indent="0" marL="0">
              <a:lnSpc>
                <a:spcPct val="120000"/>
              </a:lnSpc>
              <a:buNone/>
            </a:pPr>
            <a:r>
              <a:rPr lang="en-US" sz="960" b="1" dirty="0">
                <a:solidFill>
                  <a:srgbClr val="1D8102"/>
                </a:solidFill>
                <a:latin typeface="Arial" pitchFamily="34" charset="0"/>
                <a:ea typeface="Arial" pitchFamily="34" charset="-122"/>
                <a:cs typeface="Arial" pitchFamily="34" charset="-120"/>
              </a:rPr>
              <a:t>private</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 storage.</a:t>
            </a:r>
            <a:endParaRPr lang="en-US" sz="960" dirty="0"/>
          </a:p>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3:  </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The ETL pipeline from Part 1 of this assignment cleans, checks, and transforms that raw data into a trustworthy version.</a:t>
            </a:r>
            <a:endParaRPr lang="en-US" sz="960" dirty="0"/>
          </a:p>
        </p:txBody>
      </p:sp>
      <p:sp>
        <p:nvSpPr>
          <p:cNvPr id="7" name="Text 4"/>
          <p:cNvSpPr/>
          <p:nvPr/>
        </p:nvSpPr>
        <p:spPr>
          <a:xfrm>
            <a:off x="6309360" y="5102352"/>
            <a:ext cx="5394960" cy="1325880"/>
          </a:xfrm>
          <a:prstGeom prst="rect">
            <a:avLst/>
          </a:prstGeom>
          <a:noFill/>
          <a:ln/>
        </p:spPr>
        <p:txBody>
          <a:bodyPr wrap="square" lIns="0" tIns="0" rIns="0" bIns="0" rtlCol="0" anchor="t"/>
          <a:lstStyle/>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4: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AWS Glue</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 catalogs the cleaned data, so the system knows what tables and columns exist.</a:t>
            </a:r>
            <a:endParaRPr lang="en-US" sz="960" dirty="0"/>
          </a:p>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5:  </a:t>
            </a:r>
            <a:pPr indent="0" marL="0">
              <a:lnSpc>
                <a:spcPct val="120000"/>
              </a:lnSpc>
              <a:buNone/>
            </a:pPr>
            <a:r>
              <a:rPr lang="en-US" sz="960" dirty="0">
                <a:solidFill>
                  <a:srgbClr val="232F3E"/>
                </a:solidFill>
                <a:latin typeface="Arial" pitchFamily="34" charset="0"/>
                <a:ea typeface="Arial" pitchFamily="34" charset="-122"/>
                <a:cs typeface="Arial" pitchFamily="34" charset="-120"/>
              </a:rPr>
              <a:t>When an analyst runs a query in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Tableau</a:t>
            </a:r>
            <a:pPr indent="0" marL="0">
              <a:lnSpc>
                <a:spcPct val="120000"/>
              </a:lnSpc>
              <a:buNone/>
            </a:pPr>
            <a:r>
              <a:rPr lang="en-US" sz="960" dirty="0">
                <a:solidFill>
                  <a:srgbClr val="232F3E"/>
                </a:solidFill>
                <a:latin typeface="Arial" pitchFamily="34" charset="0"/>
                <a:ea typeface="Arial" pitchFamily="34" charset="-122"/>
                <a:cs typeface="Arial" pitchFamily="34" charset="-120"/>
              </a:rPr>
              <a:t>, the request travels </a:t>
            </a:r>
            <a:pPr indent="0" marL="0">
              <a:lnSpc>
                <a:spcPct val="120000"/>
              </a:lnSpc>
              <a:buNone/>
            </a:pPr>
            <a:r>
              <a:rPr lang="en-US" sz="960" b="1" dirty="0">
                <a:solidFill>
                  <a:srgbClr val="1D8102"/>
                </a:solidFill>
                <a:latin typeface="Arial" pitchFamily="34" charset="0"/>
                <a:ea typeface="Arial" pitchFamily="34" charset="-122"/>
                <a:cs typeface="Arial" pitchFamily="34" charset="-120"/>
              </a:rPr>
              <a:t>privately</a:t>
            </a:r>
            <a:pPr indent="0" marL="0">
              <a:lnSpc>
                <a:spcPct val="120000"/>
              </a:lnSpc>
              <a:buNone/>
            </a:pPr>
            <a:r>
              <a:rPr lang="en-US" sz="960" dirty="0">
                <a:solidFill>
                  <a:srgbClr val="232F3E"/>
                </a:solidFill>
                <a:latin typeface="Arial" pitchFamily="34" charset="0"/>
                <a:ea typeface="Arial" pitchFamily="34" charset="-122"/>
                <a:cs typeface="Arial" pitchFamily="34" charset="-120"/>
              </a:rPr>
              <a:t> (via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PrivateLink</a:t>
            </a:r>
            <a:pPr indent="0" marL="0">
              <a:lnSpc>
                <a:spcPct val="120000"/>
              </a:lnSpc>
              <a:buNone/>
            </a:pPr>
            <a:r>
              <a:rPr lang="en-US" sz="960" dirty="0">
                <a:solidFill>
                  <a:srgbClr val="232F3E"/>
                </a:solidFill>
                <a:latin typeface="Arial" pitchFamily="34" charset="0"/>
                <a:ea typeface="Arial" pitchFamily="34" charset="-122"/>
                <a:cs typeface="Arial" pitchFamily="34" charset="-120"/>
              </a:rPr>
              <a:t>) to </a:t>
            </a:r>
            <a:pPr indent="0" marL="0">
              <a:lnSpc>
                <a:spcPct val="120000"/>
              </a:lnSpc>
              <a:buNone/>
            </a:pPr>
            <a:r>
              <a:rPr lang="en-US" sz="960" b="1" dirty="0">
                <a:solidFill>
                  <a:srgbClr val="232F3E"/>
                </a:solidFill>
                <a:latin typeface="Arial" pitchFamily="34" charset="0"/>
                <a:ea typeface="Arial" pitchFamily="34" charset="-122"/>
                <a:cs typeface="Arial" pitchFamily="34" charset="-120"/>
              </a:rPr>
              <a:t>Amazon Athena</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a:t>
            </a:r>
            <a:endParaRPr lang="en-US" sz="960" dirty="0"/>
          </a:p>
          <a:p>
            <a:pPr indent="0" marL="0">
              <a:lnSpc>
                <a:spcPct val="120000"/>
              </a:lnSpc>
              <a:buNone/>
            </a:pPr>
            <a:r>
              <a:rPr lang="en-US" sz="960" b="1" dirty="0">
                <a:solidFill>
                  <a:srgbClr val="FF9900"/>
                </a:solidFill>
                <a:latin typeface="Arial" pitchFamily="34" charset="0"/>
                <a:ea typeface="Arial" pitchFamily="34" charset="-122"/>
                <a:cs typeface="Arial" pitchFamily="34" charset="-120"/>
              </a:rPr>
              <a:t>Step 6:  </a:t>
            </a:r>
            <a:pPr indent="0" marL="0">
              <a:lnSpc>
                <a:spcPct val="120000"/>
              </a:lnSpc>
              <a:buNone/>
            </a:pPr>
            <a:r>
              <a:rPr lang="en-US" sz="960" dirty="0">
                <a:solidFill>
                  <a:srgbClr val="232F3E"/>
                </a:solidFill>
                <a:latin typeface="Arial" pitchFamily="34" charset="0"/>
                <a:ea typeface="Arial" pitchFamily="34" charset="-122"/>
                <a:cs typeface="Arial" pitchFamily="34" charset="-120"/>
              </a:rPr>
              <a:t>Athena reads the cleaned data straight from storage and returns the answer, without ever touching the </a:t>
            </a:r>
            <a:pPr indent="0" marL="0">
              <a:lnSpc>
                <a:spcPct val="120000"/>
              </a:lnSpc>
              <a:buNone/>
            </a:pPr>
            <a:r>
              <a:rPr lang="en-US" sz="960" b="1" dirty="0">
                <a:solidFill>
                  <a:srgbClr val="B7472A"/>
                </a:solidFill>
                <a:latin typeface="Arial" pitchFamily="34" charset="0"/>
                <a:ea typeface="Arial" pitchFamily="34" charset="-122"/>
                <a:cs typeface="Arial" pitchFamily="34" charset="-120"/>
              </a:rPr>
              <a:t>public internet</a:t>
            </a:r>
            <a:pPr indent="0" marL="0">
              <a:lnSpc>
                <a:spcPct val="120000"/>
              </a:lnSpc>
              <a:spcAft>
                <a:spcPts val="600"/>
              </a:spcAft>
              <a:buNone/>
            </a:pPr>
            <a:r>
              <a:rPr lang="en-US" sz="960" dirty="0">
                <a:solidFill>
                  <a:srgbClr val="232F3E"/>
                </a:solidFill>
                <a:latin typeface="Arial" pitchFamily="34" charset="0"/>
                <a:ea typeface="Arial" pitchFamily="34" charset="-122"/>
                <a:cs typeface="Arial" pitchFamily="34" charset="-120"/>
              </a:rPr>
              <a:t> again after the very first step.</a:t>
            </a:r>
            <a:endParaRPr lang="en-US" sz="960" dirty="0"/>
          </a:p>
        </p:txBody>
      </p:sp>
      <p:sp>
        <p:nvSpPr>
          <p:cNvPr id="8" name="Text 5"/>
          <p:cNvSpPr/>
          <p:nvPr/>
        </p:nvSpPr>
        <p:spPr>
          <a:xfrm>
            <a:off x="11658600" y="6492240"/>
            <a:ext cx="457200" cy="274320"/>
          </a:xfrm>
          <a:prstGeom prst="rect">
            <a:avLst/>
          </a:prstGeom>
          <a:noFill/>
          <a:ln/>
        </p:spPr>
        <p:txBody>
          <a:bodyPr wrap="square" lIns="0" tIns="0" rIns="0" bIns="0" rtlCol="0" anchor="ctr"/>
          <a:lstStyle/>
          <a:p>
            <a:pPr algn="r" indent="0" marL="0">
              <a:buNone/>
            </a:pPr>
            <a:r>
              <a:rPr lang="en-US" sz="1000" dirty="0">
                <a:solidFill>
                  <a:srgbClr val="545B64"/>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lIns="0" tIns="0" rIns="0" bIns="0" rtlCol="0" anchor="ctr"/>
          <a:lstStyle/>
          <a:p>
            <a:pPr indent="0" marL="0">
              <a:buNone/>
            </a:pPr>
            <a:r>
              <a:rPr lang="en-US" sz="2500" b="1" dirty="0">
                <a:solidFill>
                  <a:srgbClr val="232F3E"/>
                </a:solidFill>
                <a:latin typeface="Arial" pitchFamily="34" charset="0"/>
                <a:ea typeface="Arial" pitchFamily="34" charset="-122"/>
                <a:cs typeface="Arial" pitchFamily="34" charset="-120"/>
              </a:rPr>
              <a:t>Key Design Decisions &amp; Trade-offs</a:t>
            </a:r>
            <a:endParaRPr lang="en-US" sz="2500" dirty="0"/>
          </a:p>
        </p:txBody>
      </p:sp>
      <p:sp>
        <p:nvSpPr>
          <p:cNvPr id="3" name="Text 1"/>
          <p:cNvSpPr/>
          <p:nvPr/>
        </p:nvSpPr>
        <p:spPr>
          <a:xfrm>
            <a:off x="457200" y="1051560"/>
            <a:ext cx="11247120" cy="777240"/>
          </a:xfrm>
          <a:prstGeom prst="rect">
            <a:avLst/>
          </a:prstGeom>
          <a:solidFill>
            <a:srgbClr val="F7F8FA"/>
          </a:solidFill>
          <a:ln w="9525">
            <a:solidFill>
              <a:srgbClr val="E2E4E8"/>
            </a:solidFill>
          </a:ln>
        </p:spPr>
        <p:txBody>
          <a:bodyPr wrap="square" lIns="0" tIns="0" rIns="0" bIns="0" rtlCol="0" anchor="t"/>
          <a:lstStyle/>
          <a:p>
            <a:pPr indent="0" marL="0">
              <a:lnSpc>
                <a:spcPct val="115000"/>
              </a:lnSpc>
              <a:buNone/>
            </a:pPr>
            <a:r>
              <a:rPr lang="en-US" sz="1250" dirty="0">
                <a:solidFill>
                  <a:srgbClr val="232F3E"/>
                </a:solidFill>
                <a:latin typeface="Arial" pitchFamily="34" charset="0"/>
                <a:ea typeface="Arial" pitchFamily="34" charset="-122"/>
                <a:cs typeface="Arial" pitchFamily="34" charset="-120"/>
              </a:rPr>
              <a:t>None of the choices in this design were arbitrary. Each row below explains a decision that solved a specific problem, together with the cost or limitation that came with it. Being upfront about these trade-offs is more useful than pretending the design has no downsides.</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11247120" cy="4480560"/>
        </p:xfrm>
        <a:graphic>
          <a:graphicData uri="http://schemas.openxmlformats.org/drawingml/2006/table">
            <a:tbl>
              <a:tblPr/>
              <a:tblGrid>
                <a:gridCol w="3017520"/>
                <a:gridCol w="8229600"/>
              </a:tblGrid>
              <a:tr h="746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Decision</a:t>
                      </a:r>
                      <a:endParaRPr lang="en-US" sz="120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232F3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Reasoning &amp; Trade-off</a:t>
                      </a:r>
                      <a:endParaRPr lang="en-US" sz="120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232F3E"/>
                    </a:solidFill>
                  </a:tcPr>
                </a:tc>
              </a:tr>
              <a:tr h="746760">
                <a:tc>
                  <a:txBody>
                    <a:bodyPr/>
                    <a:lstStyle/>
                    <a:p>
                      <a:pPr indent="0" marL="0">
                        <a:buNone/>
                      </a:pPr>
                      <a:r>
                        <a:rPr lang="en-US" sz="1020" b="1" dirty="0">
                          <a:solidFill>
                            <a:srgbClr val="232F3E"/>
                          </a:solidFill>
                          <a:latin typeface="Arial" pitchFamily="34" charset="0"/>
                          <a:ea typeface="Arial" pitchFamily="34" charset="-122"/>
                          <a:cs typeface="Arial" pitchFamily="34" charset="-120"/>
                        </a:rPr>
                        <a:t>Fargate over Lambda for ingestion</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20" dirty="0">
                          <a:solidFill>
                            <a:srgbClr val="545B64"/>
                          </a:solidFill>
                          <a:latin typeface="Arial" pitchFamily="34" charset="0"/>
                          <a:ea typeface="Arial" pitchFamily="34" charset="-122"/>
                          <a:cs typeface="Arial" pitchFamily="34" charset="-120"/>
                        </a:rPr>
                        <a:t>Fargate has no strict time limit and more temporary storage space than Lambda, giving room to handle files that grow well past 100MB in the future. The trade-off is a bit more setup complexity than a single Lambda function would need.</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r>
              <a:tr h="746760">
                <a:tc>
                  <a:txBody>
                    <a:bodyPr/>
                    <a:lstStyle/>
                    <a:p>
                      <a:pPr indent="0" marL="0">
                        <a:buNone/>
                      </a:pPr>
                      <a:r>
                        <a:rPr lang="en-US" sz="1020" b="1" dirty="0">
                          <a:solidFill>
                            <a:srgbClr val="232F3E"/>
                          </a:solidFill>
                          <a:latin typeface="Arial" pitchFamily="34" charset="0"/>
                          <a:ea typeface="Arial" pitchFamily="34" charset="-122"/>
                          <a:cs typeface="Arial" pitchFamily="34" charset="-120"/>
                        </a:rPr>
                        <a:t>Private routing (PrivateLink) for Athena &amp; Glue</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7F8FA"/>
                    </a:solidFill>
                  </a:tcPr>
                </a:tc>
                <a:tc>
                  <a:txBody>
                    <a:bodyPr/>
                    <a:lstStyle/>
                    <a:p>
                      <a:pPr indent="0" marL="0">
                        <a:buNone/>
                      </a:pPr>
                      <a:r>
                        <a:rPr lang="en-US" sz="1020" dirty="0">
                          <a:solidFill>
                            <a:srgbClr val="545B64"/>
                          </a:solidFill>
                          <a:latin typeface="Arial" pitchFamily="34" charset="0"/>
                          <a:ea typeface="Arial" pitchFamily="34" charset="-122"/>
                          <a:cs typeface="Arial" pitchFamily="34" charset="-120"/>
                        </a:rPr>
                        <a:t>This directly satisfies the requirement to keep Athena driver traffic private. The trade-off is that AWS charges an hourly fee plus a per-data fee for this private connection, unlike the free default public connection.</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7F8FA"/>
                    </a:solidFill>
                  </a:tcPr>
                </a:tc>
              </a:tr>
              <a:tr h="746760">
                <a:tc>
                  <a:txBody>
                    <a:bodyPr/>
                    <a:lstStyle/>
                    <a:p>
                      <a:pPr indent="0" marL="0">
                        <a:buNone/>
                      </a:pPr>
                      <a:r>
                        <a:rPr lang="en-US" sz="1020" b="1" dirty="0">
                          <a:solidFill>
                            <a:srgbClr val="232F3E"/>
                          </a:solidFill>
                          <a:latin typeface="Arial" pitchFamily="34" charset="0"/>
                          <a:ea typeface="Arial" pitchFamily="34" charset="-122"/>
                          <a:cs typeface="Arial" pitchFamily="34" charset="-120"/>
                        </a:rPr>
                        <a:t>Two different types of private connection used</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20" dirty="0">
                          <a:solidFill>
                            <a:srgbClr val="545B64"/>
                          </a:solidFill>
                          <a:latin typeface="Arial" pitchFamily="34" charset="0"/>
                          <a:ea typeface="Arial" pitchFamily="34" charset="-122"/>
                          <a:cs typeface="Arial" pitchFamily="34" charset="-120"/>
                        </a:rPr>
                        <a:t>Amazon S3 supports a free type of private connection called a Gateway Endpoint. Most other AWS services, including Athena and Glue, only offer the paid Interface Endpoint type, so the diagrams correctly use whichever type each service actually supports.</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r>
              <a:tr h="746760">
                <a:tc>
                  <a:txBody>
                    <a:bodyPr/>
                    <a:lstStyle/>
                    <a:p>
                      <a:pPr indent="0" marL="0">
                        <a:buNone/>
                      </a:pPr>
                      <a:r>
                        <a:rPr lang="en-US" sz="1020" b="1" dirty="0">
                          <a:solidFill>
                            <a:srgbClr val="232F3E"/>
                          </a:solidFill>
                          <a:latin typeface="Arial" pitchFamily="34" charset="0"/>
                          <a:ea typeface="Arial" pitchFamily="34" charset="-122"/>
                          <a:cs typeface="Arial" pitchFamily="34" charset="-120"/>
                        </a:rPr>
                        <a:t>Parquet format instead of CSV for analysis</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7F8FA"/>
                    </a:solidFill>
                  </a:tcPr>
                </a:tc>
                <a:tc>
                  <a:txBody>
                    <a:bodyPr/>
                    <a:lstStyle/>
                    <a:p>
                      <a:pPr indent="0" marL="0">
                        <a:buNone/>
                      </a:pPr>
                      <a:r>
                        <a:rPr lang="en-US" sz="1020" dirty="0">
                          <a:solidFill>
                            <a:srgbClr val="545B64"/>
                          </a:solidFill>
                          <a:latin typeface="Arial" pitchFamily="34" charset="0"/>
                          <a:ea typeface="Arial" pitchFamily="34" charset="-122"/>
                          <a:cs typeface="Arial" pitchFamily="34" charset="-120"/>
                        </a:rPr>
                        <a:t>This reduces how much data Athena has to read for each query, making queries both faster and cheaper for Tableau users. The trade-off is that it requires one extra conversion step beyond what Part 1 of this assignment currently produces.</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7F8FA"/>
                    </a:solidFill>
                  </a:tcPr>
                </a:tc>
              </a:tr>
              <a:tr h="746760">
                <a:tc>
                  <a:txBody>
                    <a:bodyPr/>
                    <a:lstStyle/>
                    <a:p>
                      <a:pPr indent="0" marL="0">
                        <a:buNone/>
                      </a:pPr>
                      <a:r>
                        <a:rPr lang="en-US" sz="1020" b="1" dirty="0">
                          <a:solidFill>
                            <a:srgbClr val="232F3E"/>
                          </a:solidFill>
                          <a:latin typeface="Arial" pitchFamily="34" charset="0"/>
                          <a:ea typeface="Arial" pitchFamily="34" charset="-122"/>
                          <a:cs typeface="Arial" pitchFamily="34" charset="-120"/>
                        </a:rPr>
                        <a:t>A single AWS account and region</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020" dirty="0">
                          <a:solidFill>
                            <a:srgbClr val="545B64"/>
                          </a:solidFill>
                          <a:latin typeface="Arial" pitchFamily="34" charset="0"/>
                          <a:ea typeface="Arial" pitchFamily="34" charset="-122"/>
                          <a:cs typeface="Arial" pitchFamily="34" charset="-120"/>
                        </a:rPr>
                        <a:t>This keeps the design simpler and easier to follow for this assignment. In a real production rollout, splitting this across multiple AWS accounts would likely be considered, to better contain the impact if any one part of the system were ever compromised.</a:t>
                      </a:r>
                      <a:endParaRPr lang="en-US" sz="1020" dirty="0">
                        <a:latin typeface="Arial" charset="0"/>
                        <a:ea typeface="Arial" charset="0"/>
                        <a:cs typeface="Arial" charset="0"/>
                      </a:endParaRPr>
                    </a:p>
                  </a:txBody>
                  <a:tcPr marL="91440" marR="91440" marT="45720" marB="45720" anchor="ctr">
                    <a:lnL w="6350" cap="flat" cmpd="sng" algn="ctr">
                      <a:solidFill>
                        <a:srgbClr val="E2E4E8"/>
                      </a:solidFill>
                      <a:prstDash val="solid"/>
                      <a:round/>
                      <a:headEnd type="none" w="med" len="med"/>
                      <a:tailEnd type="none" w="med" len="med"/>
                    </a:lnL>
                    <a:lnR w="6350" cap="flat" cmpd="sng" algn="ctr">
                      <a:solidFill>
                        <a:srgbClr val="E2E4E8"/>
                      </a:solidFill>
                      <a:prstDash val="solid"/>
                      <a:round/>
                      <a:headEnd type="none" w="med" len="med"/>
                      <a:tailEnd type="none" w="med" len="med"/>
                    </a:lnR>
                    <a:lnT w="6350" cap="flat" cmpd="sng" algn="ctr">
                      <a:solidFill>
                        <a:srgbClr val="E2E4E8"/>
                      </a:solidFill>
                      <a:prstDash val="solid"/>
                      <a:round/>
                      <a:headEnd type="none" w="med" len="med"/>
                      <a:tailEnd type="none" w="med" len="med"/>
                    </a:lnT>
                    <a:lnB w="6350" cap="flat" cmpd="sng" algn="ctr">
                      <a:solidFill>
                        <a:srgbClr val="E2E4E8"/>
                      </a:solidFill>
                      <a:prstDash val="solid"/>
                      <a:round/>
                      <a:headEnd type="none" w="med" len="med"/>
                      <a:tailEnd type="none" w="med" len="med"/>
                    </a:lnB>
                    <a:solidFill>
                      <a:srgbClr val="FFFFFF"/>
                    </a:solidFill>
                  </a:tcPr>
                </a:tc>
              </a:tr>
            </a:tbl>
          </a:graphicData>
        </a:graphic>
      </p:graphicFrame>
      <p:sp>
        <p:nvSpPr>
          <p:cNvPr id="5" name="Text 2"/>
          <p:cNvSpPr/>
          <p:nvPr/>
        </p:nvSpPr>
        <p:spPr>
          <a:xfrm>
            <a:off x="11658600" y="6492240"/>
            <a:ext cx="457200" cy="274320"/>
          </a:xfrm>
          <a:prstGeom prst="rect">
            <a:avLst/>
          </a:prstGeom>
          <a:noFill/>
          <a:ln/>
        </p:spPr>
        <p:txBody>
          <a:bodyPr wrap="square" lIns="0" tIns="0" rIns="0" bIns="0" rtlCol="0" anchor="ctr"/>
          <a:lstStyle/>
          <a:p>
            <a:pPr algn="r" indent="0" marL="0">
              <a:buNone/>
            </a:pPr>
            <a:r>
              <a:rPr lang="en-US" sz="1000" dirty="0">
                <a:solidFill>
                  <a:srgbClr val="545B64"/>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2026-07-18T20:02:47Z</dcterms:created>
  <dcterms:modified xsi:type="dcterms:W3CDTF">2026-07-18T20:02:47Z</dcterms:modified>
</cp:coreProperties>
</file>